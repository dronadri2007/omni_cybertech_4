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e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codeX. VERIFRAME is our answer to Omni_CyberTech_4 — detecting deepfake and manipulated media. For Phase 2 we shipped a complete analyst platform plus a real forensic detection engine — Error Level Analysis, EXIF and C2PA checks — running behind a model-agnostic seam. There is no trained ML model yet; that is the last drop-in, and this deck is honest about exactly where that line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Manipulated media spreads faster than anyone can manually check it, and the people doing that work across scattered tools. Any single detection model also goes stale as generators evolve, so the platform around the model matters as much as the model. VERIFRAME is an explainable review workspace: every verdict traces back to a concrete computation on the file, and the provenance panel surfaces a real C2PA probe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surface is done and independently verifiable: 17 routed pages, a dashboard shell, a REST API, and interactive evidence viewers. The eight-table Postgres schema is now wired through a migration runner and a PgStore backend, used whenever DATABASE_URL is set, with the in-memory store as the zero-config default. The demo needs only the local Express API, the forensic analyzer, and the in-memory store — no database, no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centrepiece. All detection logic sits behind one TypeScript interface with three interchangeable implementations chosen by a single environment variable. The default, ForensicMediaAnalyzer, reads the media bytes and computes real signal: an Error Level Analysis residual heatmap via sharp, EXIF inconsistency and generative-tool flags via exifr, and a C2PA manifest probe — combined with explicit weighted arithmetic into a manipulation probability and verdict. It trains, loads and invokes no model; the code labels its own output forensic-v1-noml. The filename mock still exists, but only as ANALYZER=mock.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complete 17-page SPA with client-side routing and a dashboard-shell layout. The heatmap canvas has four view modes and an opacity slider; for images it now renders a real 8x8 Error Level Analysis residual grid computed from the pixels by sharp, not model gradients. The video timeline and audio waveform viewers are real UI but currently show a single container/metadata anomaly marker pending the model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Express API exposes roughly 18 endpoints and is hardened: helmet, a CORS origin allowlist, x-powered-by disabled, a 1 MB JSON cap, a global rate limit plus a stricter one on the auth routes, and zod validation on every body. Uploads run through multer with a 50 MB default cap and a media mime allowlist. The end-to-end flow works: analyze media, walk evidence and provenance, send to review, override the verdict and see it reflected on the parent case. State is in-memory by default and resets on restart; set DATABASE_URL and the same Store interface runs on Postgres via the migration runner.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Node backend now carries real dependencies: bcryptjs and jsonwebtoken for auth, helmet and express-rate-limit for hardening, zod for validation, sharp and exifr for the forensic engine, and pg for the optional Postgres store. There is no PyTorch or ONNX in the Node process by design; inference lives in a separate Python service. The schema and its migrations are applied by a migration runner and back the PgStore. What is still genuinely absent is ffmpeg and any trained model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coupling point is a build() switch on one environment variable. The default forensic engine reads bytes and computes real signal; for C2PA it tries an optional native library for cryptographic manifest validation and otherwise scans container bytes for the JUMBF marker, reporting 'present but not verified' honestly. The PyTorch client is already written: it calls a FastAPI service and transparently falls back to the forensic engine if that service is down. The service runs today with freq-heuristic-v1, a deliberately conservative 2-D power-spectrum heuristic — real signal with no training. A trained EfficientNet backend loads automatically once MODEL_WEIGHTS points to a checkpoint; none ships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build problem was defining the AnalysisCase contract well enough to cover all three modalities before we had a model to shape it — then writing a real forensic engine that fills that same contract. Moving the client to be server-authoritative, with a Bearer token and one request helper, while keeping read-only views resilient to a missing API, took care. What we consciously left for later is narrow: trained models, and ffmpeg-based video-frame and audio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build, deepfake detection carries structural risks we designed around. Detectors decay, so we need a retraining loop; full-video inference is expensive, so we plan an edge triage pass; and false positives erode trust, which is why the human review queue and review-required thresholds exist. We are also clear-eyed that the current engine is a deliberately conservative forensic heuristic, so recall on high-quality generative fakes is bounded until a trained model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concrete because it is anchored to code that already exists. The Python service, the PyTorch client and the ANALYZER=pytorch flip are all built; step one is training and serving real weights behind that service, evaluated on FaceForensics++, DFDC and Celeb-DF with published precision and recall. From there: bundle the C2PA native library by default, add ffmpeg extraction so video and audio get real per-frame analysis, add gradient-based heatmaps, persist the currently in-memory user store to Postgres, and close a retraining loop fed by reviewer overrides.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we run the local Express API with the forensic analyzer and in-memory store — no GPU, no database. The three one-click samples open seeded fixture cases, so those keep their fixed numbers, but a fresh file upload now returns a real forensic score and verdict from ELA, noise statistics, EXIF and the C2PA probe. We walk the seven-stage processing animation, open the evidence viewer and toggle the heatmap modes, check the provenance panel, override a verdict in the review queue, and export a report. The dashboard KPI tiles remain placeholder fixtures and we call that out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2 message is straightforward. We have a working forensic-analysis and case-management platform: every number an analyst sees traces to a concrete computation on the file itself, and the UI surfaces that reasoning chain instead of a black-box score. All detection logic sits behind one interface with an env-selected implementation, so a trained model drops in without touching the API, client, storage or review workflow — the integration cost is already paid. The honest gaps are stated in the product's own output: no trained model in the default engine, video and audio limited to metadata and provenance, and no accuracy figures claimed. Phase 3 is training and evaluating that model against public benchmarks — against a platform already built to receive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8092440" y="2743200"/>
            <a:ext cx="3931920" cy="3931920"/>
          </a:xfrm>
          <a:prstGeom prst="roundRect">
            <a:avLst>
              <a:gd name="adj" fmla="val 50000"/>
            </a:avLst>
          </a:prstGeom>
          <a:solidFill>
            <a:srgbClr val="FFFFFF">
              <a:alpha val="0"/>
            </a:srgbClr>
          </a:solidFill>
          <a:ln w="15875">
            <a:solidFill>
              <a:srgbClr val="1C2F4A"/>
            </a:solidFill>
            <a:prstDash val="solid"/>
          </a:ln>
        </p:spPr>
      </p:sp>
      <p:sp>
        <p:nvSpPr>
          <p:cNvPr id="3" name="Shape 1"/>
          <p:cNvSpPr/>
          <p:nvPr/>
        </p:nvSpPr>
        <p:spPr>
          <a:xfrm>
            <a:off x="8823960" y="3474720"/>
            <a:ext cx="2468880" cy="2468880"/>
          </a:xfrm>
          <a:prstGeom prst="roundRect">
            <a:avLst>
              <a:gd name="adj" fmla="val 50000"/>
            </a:avLst>
          </a:prstGeom>
          <a:solidFill>
            <a:srgbClr val="FFFFFF">
              <a:alpha val="0"/>
            </a:srgbClr>
          </a:solidFill>
          <a:ln w="12700">
            <a:solidFill>
              <a:srgbClr val="0E6E7E"/>
            </a:solidFill>
            <a:prstDash val="solid"/>
          </a:ln>
        </p:spPr>
      </p:sp>
      <p:sp>
        <p:nvSpPr>
          <p:cNvPr id="4" name="Shape 2"/>
          <p:cNvSpPr/>
          <p:nvPr/>
        </p:nvSpPr>
        <p:spPr>
          <a:xfrm>
            <a:off x="9464040" y="4114800"/>
            <a:ext cx="1188720" cy="1188720"/>
          </a:xfrm>
          <a:prstGeom prst="roundRect">
            <a:avLst>
              <a:gd name="adj" fmla="val 50000"/>
            </a:avLst>
          </a:prstGeom>
          <a:solidFill>
            <a:srgbClr val="FFFFFF">
              <a:alpha val="0"/>
            </a:srgbClr>
          </a:solidFill>
          <a:ln w="19050">
            <a:solidFill>
              <a:srgbClr val="12B5CB"/>
            </a:solidFill>
            <a:prstDash val="solid"/>
          </a:ln>
        </p:spPr>
      </p:sp>
      <p:sp>
        <p:nvSpPr>
          <p:cNvPr id="5" name="Shape 3"/>
          <p:cNvSpPr/>
          <p:nvPr/>
        </p:nvSpPr>
        <p:spPr>
          <a:xfrm>
            <a:off x="10012680" y="4663440"/>
            <a:ext cx="91440" cy="91440"/>
          </a:xfrm>
          <a:prstGeom prst="roundRect">
            <a:avLst>
              <a:gd name="adj" fmla="val 50000"/>
            </a:avLst>
          </a:prstGeom>
          <a:solidFill>
            <a:srgbClr val="12B5CB"/>
          </a:solidFill>
          <a:ln/>
        </p:spPr>
      </p:sp>
      <p:sp>
        <p:nvSpPr>
          <p:cNvPr id="6" name="Text 4"/>
          <p:cNvSpPr/>
          <p:nvPr/>
        </p:nvSpPr>
        <p:spPr>
          <a:xfrm>
            <a:off x="822960" y="868680"/>
            <a:ext cx="10058400" cy="365760"/>
          </a:xfrm>
          <a:prstGeom prst="rect">
            <a:avLst/>
          </a:prstGeom>
          <a:noFill/>
          <a:ln/>
        </p:spPr>
        <p:txBody>
          <a:bodyPr wrap="square" lIns="0" tIns="0" rIns="0" bIns="0" rtlCol="0" anchor="ctr"/>
          <a:lstStyle/>
          <a:p>
            <a:pPr indent="0" marL="0">
              <a:buNone/>
            </a:pPr>
            <a:r>
              <a:rPr lang="en-US" sz="1200" b="1" spc="300" kern="0" dirty="0">
                <a:solidFill>
                  <a:srgbClr val="12B5CB"/>
                </a:solidFill>
                <a:latin typeface="Courier New" pitchFamily="34" charset="0"/>
                <a:ea typeface="Courier New" pitchFamily="34" charset="-122"/>
                <a:cs typeface="Courier New" pitchFamily="34" charset="-120"/>
              </a:rPr>
              <a:t>OMNIKON NATIONAL HACKATHON 2026</a:t>
            </a:r>
            <a:endParaRPr lang="en-US" sz="1200" dirty="0"/>
          </a:p>
        </p:txBody>
      </p:sp>
      <p:sp>
        <p:nvSpPr>
          <p:cNvPr id="7" name="Text 5"/>
          <p:cNvSpPr/>
          <p:nvPr/>
        </p:nvSpPr>
        <p:spPr>
          <a:xfrm>
            <a:off x="777240" y="1554480"/>
            <a:ext cx="10607040" cy="1371600"/>
          </a:xfrm>
          <a:prstGeom prst="rect">
            <a:avLst/>
          </a:prstGeom>
          <a:noFill/>
          <a:ln/>
        </p:spPr>
        <p:txBody>
          <a:bodyPr wrap="square" lIns="0" tIns="0" rIns="0" bIns="0" rtlCol="0" anchor="ctr"/>
          <a:lstStyle/>
          <a:p>
            <a:pPr indent="0" marL="0">
              <a:buNone/>
            </a:pPr>
            <a:r>
              <a:rPr lang="en-US" sz="7600" b="1" dirty="0">
                <a:solidFill>
                  <a:srgbClr val="FFFFFF"/>
                </a:solidFill>
                <a:latin typeface="Calibri" pitchFamily="34" charset="0"/>
                <a:ea typeface="Calibri" pitchFamily="34" charset="-122"/>
                <a:cs typeface="Calibri" pitchFamily="34" charset="-120"/>
              </a:rPr>
              <a:t>VERIFRAME</a:t>
            </a:r>
            <a:endParaRPr lang="en-US" sz="7600" dirty="0"/>
          </a:p>
        </p:txBody>
      </p:sp>
      <p:sp>
        <p:nvSpPr>
          <p:cNvPr id="8" name="Text 6"/>
          <p:cNvSpPr/>
          <p:nvPr/>
        </p:nvSpPr>
        <p:spPr>
          <a:xfrm>
            <a:off x="822960" y="2880360"/>
            <a:ext cx="10058400" cy="548640"/>
          </a:xfrm>
          <a:prstGeom prst="rect">
            <a:avLst/>
          </a:prstGeom>
          <a:noFill/>
          <a:ln/>
        </p:spPr>
        <p:txBody>
          <a:bodyPr wrap="square" lIns="0" tIns="0" rIns="0" bIns="0" rtlCol="0" anchor="ctr"/>
          <a:lstStyle/>
          <a:p>
            <a:pPr indent="0" marL="0">
              <a:buNone/>
            </a:pPr>
            <a:r>
              <a:rPr lang="en-US" sz="2000" i="1" dirty="0">
                <a:solidFill>
                  <a:srgbClr val="AEBED6"/>
                </a:solidFill>
                <a:latin typeface="Calibri" pitchFamily="34" charset="0"/>
                <a:ea typeface="Calibri" pitchFamily="34" charset="-122"/>
                <a:cs typeface="Calibri" pitchFamily="34" charset="-120"/>
              </a:rPr>
              <a:t>Verify what you see. Trust what you share.</a:t>
            </a:r>
            <a:endParaRPr lang="en-US" sz="2000" dirty="0"/>
          </a:p>
        </p:txBody>
      </p:sp>
      <p:sp>
        <p:nvSpPr>
          <p:cNvPr id="9" name="Text 7"/>
          <p:cNvSpPr/>
          <p:nvPr/>
        </p:nvSpPr>
        <p:spPr>
          <a:xfrm>
            <a:off x="822960" y="3749040"/>
            <a:ext cx="10424160" cy="365760"/>
          </a:xfrm>
          <a:prstGeom prst="rect">
            <a:avLst/>
          </a:prstGeom>
          <a:noFill/>
          <a:ln/>
        </p:spPr>
        <p:txBody>
          <a:bodyPr wrap="square" lIns="0" tIns="0" rIns="0" bIns="0" rtlCol="0" anchor="ctr"/>
          <a:lstStyle/>
          <a:p>
            <a:pPr indent="0" marL="0">
              <a:buNone/>
            </a:pPr>
            <a:r>
              <a:rPr lang="en-US" sz="1200" b="1" dirty="0">
                <a:solidFill>
                  <a:srgbClr val="12B5CB"/>
                </a:solidFill>
                <a:latin typeface="Courier New" pitchFamily="34" charset="0"/>
                <a:ea typeface="Courier New" pitchFamily="34" charset="-122"/>
                <a:cs typeface="Courier New" pitchFamily="34" charset="-120"/>
              </a:rPr>
              <a:t>PROBLEM  </a:t>
            </a:r>
            <a:pPr indent="0" marL="0">
              <a:buNone/>
            </a:pPr>
            <a:r>
              <a:rPr lang="en-US" sz="1200" dirty="0">
                <a:solidFill>
                  <a:srgbClr val="C9D6E8"/>
                </a:solidFill>
                <a:latin typeface="Courier New" pitchFamily="34" charset="0"/>
                <a:ea typeface="Courier New" pitchFamily="34" charset="-122"/>
                <a:cs typeface="Courier New" pitchFamily="34" charset="-120"/>
              </a:rPr>
              <a:t>Omni_CyberTech_4 — Detecting Deepfake and Manipulated Media</a:t>
            </a:r>
            <a:endParaRPr lang="en-US" sz="1200" dirty="0"/>
          </a:p>
        </p:txBody>
      </p:sp>
      <p:sp>
        <p:nvSpPr>
          <p:cNvPr id="10" name="Text 8"/>
          <p:cNvSpPr/>
          <p:nvPr/>
        </p:nvSpPr>
        <p:spPr>
          <a:xfrm>
            <a:off x="822960" y="4133088"/>
            <a:ext cx="10424160" cy="365760"/>
          </a:xfrm>
          <a:prstGeom prst="rect">
            <a:avLst/>
          </a:prstGeom>
          <a:noFill/>
          <a:ln/>
        </p:spPr>
        <p:txBody>
          <a:bodyPr wrap="square" lIns="0" tIns="0" rIns="0" bIns="0" rtlCol="0" anchor="ctr"/>
          <a:lstStyle/>
          <a:p>
            <a:pPr indent="0" marL="0">
              <a:buNone/>
            </a:pPr>
            <a:r>
              <a:rPr lang="en-US" sz="1200" b="1" dirty="0">
                <a:solidFill>
                  <a:srgbClr val="12B5CB"/>
                </a:solidFill>
                <a:latin typeface="Courier New" pitchFamily="34" charset="0"/>
                <a:ea typeface="Courier New" pitchFamily="34" charset="-122"/>
                <a:cs typeface="Courier New" pitchFamily="34" charset="-120"/>
              </a:rPr>
              <a:t>THEME    </a:t>
            </a:r>
            <a:pPr indent="0" marL="0">
              <a:buNone/>
            </a:pPr>
            <a:r>
              <a:rPr lang="en-US" sz="1200" dirty="0">
                <a:solidFill>
                  <a:srgbClr val="C9D6E8"/>
                </a:solidFill>
                <a:latin typeface="Courier New" pitchFamily="34" charset="0"/>
                <a:ea typeface="Courier New" pitchFamily="34" charset="-122"/>
                <a:cs typeface="Courier New" pitchFamily="34" charset="-120"/>
              </a:rPr>
              <a:t>Cybersecurity, Blockchain &amp; Digital Trust</a:t>
            </a:r>
            <a:endParaRPr lang="en-US" sz="1200" dirty="0"/>
          </a:p>
        </p:txBody>
      </p:sp>
      <p:sp>
        <p:nvSpPr>
          <p:cNvPr id="11" name="Shape 9"/>
          <p:cNvSpPr/>
          <p:nvPr/>
        </p:nvSpPr>
        <p:spPr>
          <a:xfrm>
            <a:off x="822960" y="4892040"/>
            <a:ext cx="4206240" cy="0"/>
          </a:xfrm>
          <a:prstGeom prst="line">
            <a:avLst/>
          </a:prstGeom>
          <a:noFill/>
          <a:ln w="12700">
            <a:solidFill>
              <a:srgbClr val="2A3E5C"/>
            </a:solidFill>
            <a:prstDash val="solid"/>
          </a:ln>
        </p:spPr>
      </p:sp>
      <p:sp>
        <p:nvSpPr>
          <p:cNvPr id="12" name="Text 10"/>
          <p:cNvSpPr/>
          <p:nvPr/>
        </p:nvSpPr>
        <p:spPr>
          <a:xfrm>
            <a:off x="822960" y="5074920"/>
            <a:ext cx="7315200" cy="822960"/>
          </a:xfrm>
          <a:prstGeom prst="rect">
            <a:avLst/>
          </a:prstGeom>
          <a:noFill/>
          <a:ln/>
        </p:spPr>
        <p:txBody>
          <a:bodyPr wrap="square" lIns="0" tIns="0" rIns="0" bIns="0" rtlCol="0" anchor="ctr"/>
          <a:lstStyle/>
          <a:p>
            <a:pPr indent="0" marL="0">
              <a:lnSpc>
                <a:spcPct val="120000"/>
              </a:lnSpc>
              <a:buNone/>
            </a:pPr>
            <a:r>
              <a:rPr lang="en-US" sz="1400" b="1" dirty="0">
                <a:solidFill>
                  <a:srgbClr val="FFFFFF"/>
                </a:solidFill>
                <a:latin typeface="Calibri" pitchFamily="34" charset="0"/>
                <a:ea typeface="Calibri" pitchFamily="34" charset="-122"/>
                <a:cs typeface="Calibri" pitchFamily="34" charset="-120"/>
              </a:rPr>
              <a:t>Team codeX
</a:t>
            </a:r>
            <a:pPr indent="0" marL="0">
              <a:lnSpc>
                <a:spcPct val="120000"/>
              </a:lnSpc>
              <a:buNone/>
            </a:pPr>
            <a:r>
              <a:rPr lang="en-US" sz="1150" dirty="0">
                <a:solidFill>
                  <a:srgbClr val="9FB2CC"/>
                </a:solidFill>
                <a:latin typeface="Calibri" pitchFamily="34" charset="0"/>
                <a:ea typeface="Calibri" pitchFamily="34" charset="-122"/>
                <a:cs typeface="Calibri" pitchFamily="34" charset="-120"/>
              </a:rPr>
              <a:t>Dronadri Poornanda Chalam (Team Lead)  ·  Prapul Kumar</a:t>
            </a:r>
            <a:endParaRPr lang="en-US" sz="1400" dirty="0"/>
          </a:p>
        </p:txBody>
      </p:sp>
      <p:sp>
        <p:nvSpPr>
          <p:cNvPr id="13" name="Text 11"/>
          <p:cNvSpPr/>
          <p:nvPr/>
        </p:nvSpPr>
        <p:spPr>
          <a:xfrm>
            <a:off x="822960" y="5989320"/>
            <a:ext cx="7680960" cy="640080"/>
          </a:xfrm>
          <a:prstGeom prst="rect">
            <a:avLst/>
          </a:prstGeom>
          <a:noFill/>
          <a:ln/>
        </p:spPr>
        <p:txBody>
          <a:bodyPr wrap="square" lIns="0" tIns="0" rIns="0" bIns="0" rtlCol="0" anchor="ctr"/>
          <a:lstStyle/>
          <a:p>
            <a:pPr indent="0" marL="0">
              <a:lnSpc>
                <a:spcPct val="115000"/>
              </a:lnSpc>
              <a:buNone/>
            </a:pPr>
            <a:r>
              <a:rPr lang="en-US" sz="850" dirty="0">
                <a:solidFill>
                  <a:srgbClr val="6B7A99"/>
                </a:solidFill>
                <a:latin typeface="Courier New" pitchFamily="34" charset="0"/>
                <a:ea typeface="Courier New" pitchFamily="34" charset="-122"/>
                <a:cs typeface="Courier New" pitchFamily="34" charset="-120"/>
              </a:rPr>
              <a:t>Shipped this phase: a real forensic detection engine, JWT + bcrypt auth, a data layer, a FastAPI model service, Docker, CI, and 20 passing tests.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01 · PROBLEM STATEMENT</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The trust gap in synthetic media</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58368" y="1828800"/>
            <a:ext cx="384048" cy="384048"/>
          </a:xfrm>
          <a:prstGeom prst="roundRect">
            <a:avLst>
              <a:gd name="adj" fmla="val 19048"/>
            </a:avLst>
          </a:prstGeom>
          <a:solidFill>
            <a:srgbClr val="0B1F3A"/>
          </a:solidFill>
          <a:ln/>
        </p:spPr>
      </p:sp>
      <p:sp>
        <p:nvSpPr>
          <p:cNvPr id="9" name="Shape 7"/>
          <p:cNvSpPr/>
          <p:nvPr/>
        </p:nvSpPr>
        <p:spPr>
          <a:xfrm>
            <a:off x="786384" y="1956816"/>
            <a:ext cx="128016" cy="128016"/>
          </a:xfrm>
          <a:prstGeom prst="roundRect">
            <a:avLst>
              <a:gd name="adj" fmla="val 50000"/>
            </a:avLst>
          </a:prstGeom>
          <a:solidFill>
            <a:srgbClr val="12B5CB"/>
          </a:solidFill>
          <a:ln/>
        </p:spPr>
      </p:sp>
      <p:sp>
        <p:nvSpPr>
          <p:cNvPr id="10" name="Text 8"/>
          <p:cNvSpPr/>
          <p:nvPr/>
        </p:nvSpPr>
        <p:spPr>
          <a:xfrm>
            <a:off x="1234440" y="1783080"/>
            <a:ext cx="7955280" cy="914400"/>
          </a:xfrm>
          <a:prstGeom prst="rect">
            <a:avLst/>
          </a:prstGeom>
          <a:noFill/>
          <a:ln/>
        </p:spPr>
        <p:txBody>
          <a:bodyPr wrap="square" lIns="0" tIns="0" rIns="0" bIns="0" rtlCol="0" anchor="t"/>
          <a:lstStyle/>
          <a:p>
            <a:pPr indent="0" marL="0">
              <a:lnSpc>
                <a:spcPct val="105000"/>
              </a:lnSpc>
              <a:buNone/>
            </a:pPr>
            <a:r>
              <a:rPr lang="en-US" sz="1350" b="1" dirty="0">
                <a:solidFill>
                  <a:srgbClr val="0B1F3A"/>
                </a:solidFill>
                <a:latin typeface="Calibri" pitchFamily="34" charset="0"/>
                <a:ea typeface="Calibri" pitchFamily="34" charset="-122"/>
                <a:cs typeface="Calibri" pitchFamily="34" charset="-120"/>
              </a:rPr>
              <a:t>Manipulated media outpaces review  —  </a:t>
            </a:r>
            <a:pPr indent="0" marL="0">
              <a:lnSpc>
                <a:spcPct val="105000"/>
              </a:lnSpc>
              <a:buNone/>
            </a:pPr>
            <a:r>
              <a:rPr lang="en-US" sz="1350" dirty="0">
                <a:solidFill>
                  <a:srgbClr val="2B3A55"/>
                </a:solidFill>
                <a:latin typeface="Calibri" pitchFamily="34" charset="0"/>
                <a:ea typeface="Calibri" pitchFamily="34" charset="-122"/>
                <a:cs typeface="Calibri" pitchFamily="34" charset="-120"/>
              </a:rPr>
              <a:t>Face swaps, cloned voice and edited video erode public trust faster than anyone can verify by hand.</a:t>
            </a:r>
            <a:endParaRPr lang="en-US" sz="1350" dirty="0"/>
          </a:p>
        </p:txBody>
      </p:sp>
      <p:sp>
        <p:nvSpPr>
          <p:cNvPr id="11" name="Shape 9"/>
          <p:cNvSpPr/>
          <p:nvPr/>
        </p:nvSpPr>
        <p:spPr>
          <a:xfrm>
            <a:off x="658368" y="2852928"/>
            <a:ext cx="384048" cy="384048"/>
          </a:xfrm>
          <a:prstGeom prst="roundRect">
            <a:avLst>
              <a:gd name="adj" fmla="val 19048"/>
            </a:avLst>
          </a:prstGeom>
          <a:solidFill>
            <a:srgbClr val="0B1F3A"/>
          </a:solidFill>
          <a:ln/>
        </p:spPr>
      </p:sp>
      <p:sp>
        <p:nvSpPr>
          <p:cNvPr id="12" name="Shape 10"/>
          <p:cNvSpPr/>
          <p:nvPr/>
        </p:nvSpPr>
        <p:spPr>
          <a:xfrm>
            <a:off x="786384" y="2980944"/>
            <a:ext cx="128016" cy="128016"/>
          </a:xfrm>
          <a:prstGeom prst="roundRect">
            <a:avLst>
              <a:gd name="adj" fmla="val 50000"/>
            </a:avLst>
          </a:prstGeom>
          <a:solidFill>
            <a:srgbClr val="12B5CB"/>
          </a:solidFill>
          <a:ln/>
        </p:spPr>
      </p:sp>
      <p:sp>
        <p:nvSpPr>
          <p:cNvPr id="13" name="Text 11"/>
          <p:cNvSpPr/>
          <p:nvPr/>
        </p:nvSpPr>
        <p:spPr>
          <a:xfrm>
            <a:off x="1234440" y="2807208"/>
            <a:ext cx="7955280" cy="914400"/>
          </a:xfrm>
          <a:prstGeom prst="rect">
            <a:avLst/>
          </a:prstGeom>
          <a:noFill/>
          <a:ln/>
        </p:spPr>
        <p:txBody>
          <a:bodyPr wrap="square" lIns="0" tIns="0" rIns="0" bIns="0" rtlCol="0" anchor="t"/>
          <a:lstStyle/>
          <a:p>
            <a:pPr indent="0" marL="0">
              <a:lnSpc>
                <a:spcPct val="105000"/>
              </a:lnSpc>
              <a:buNone/>
            </a:pPr>
            <a:r>
              <a:rPr lang="en-US" sz="1350" b="1" dirty="0">
                <a:solidFill>
                  <a:srgbClr val="0B1F3A"/>
                </a:solidFill>
                <a:latin typeface="Calibri" pitchFamily="34" charset="0"/>
                <a:ea typeface="Calibri" pitchFamily="34" charset="-122"/>
                <a:cs typeface="Calibri" pitchFamily="34" charset="-120"/>
              </a:rPr>
              <a:t>Reviewers work across scattered tools  —  </a:t>
            </a:r>
            <a:pPr indent="0" marL="0">
              <a:lnSpc>
                <a:spcPct val="105000"/>
              </a:lnSpc>
              <a:buNone/>
            </a:pPr>
            <a:r>
              <a:rPr lang="en-US" sz="1350" dirty="0">
                <a:solidFill>
                  <a:srgbClr val="2B3A55"/>
                </a:solidFill>
                <a:latin typeface="Calibri" pitchFamily="34" charset="0"/>
                <a:ea typeface="Calibri" pitchFamily="34" charset="-122"/>
                <a:cs typeface="Calibri" pitchFamily="34" charset="-120"/>
              </a:rPr>
              <a:t>Fact-checkers and newsrooms lack one forensic workspace for images, video and audio.</a:t>
            </a:r>
            <a:endParaRPr lang="en-US" sz="1350" dirty="0"/>
          </a:p>
        </p:txBody>
      </p:sp>
      <p:sp>
        <p:nvSpPr>
          <p:cNvPr id="14" name="Shape 12"/>
          <p:cNvSpPr/>
          <p:nvPr/>
        </p:nvSpPr>
        <p:spPr>
          <a:xfrm>
            <a:off x="658368" y="3877056"/>
            <a:ext cx="384048" cy="384048"/>
          </a:xfrm>
          <a:prstGeom prst="roundRect">
            <a:avLst>
              <a:gd name="adj" fmla="val 19048"/>
            </a:avLst>
          </a:prstGeom>
          <a:solidFill>
            <a:srgbClr val="0B1F3A"/>
          </a:solidFill>
          <a:ln/>
        </p:spPr>
      </p:sp>
      <p:sp>
        <p:nvSpPr>
          <p:cNvPr id="15" name="Shape 13"/>
          <p:cNvSpPr/>
          <p:nvPr/>
        </p:nvSpPr>
        <p:spPr>
          <a:xfrm>
            <a:off x="786384" y="4005072"/>
            <a:ext cx="128016" cy="128016"/>
          </a:xfrm>
          <a:prstGeom prst="roundRect">
            <a:avLst>
              <a:gd name="adj" fmla="val 50000"/>
            </a:avLst>
          </a:prstGeom>
          <a:solidFill>
            <a:srgbClr val="12B5CB"/>
          </a:solidFill>
          <a:ln/>
        </p:spPr>
      </p:sp>
      <p:sp>
        <p:nvSpPr>
          <p:cNvPr id="16" name="Text 14"/>
          <p:cNvSpPr/>
          <p:nvPr/>
        </p:nvSpPr>
        <p:spPr>
          <a:xfrm>
            <a:off x="1234440" y="3831336"/>
            <a:ext cx="7955280" cy="914400"/>
          </a:xfrm>
          <a:prstGeom prst="rect">
            <a:avLst/>
          </a:prstGeom>
          <a:noFill/>
          <a:ln/>
        </p:spPr>
        <p:txBody>
          <a:bodyPr wrap="square" lIns="0" tIns="0" rIns="0" bIns="0" rtlCol="0" anchor="t"/>
          <a:lstStyle/>
          <a:p>
            <a:pPr indent="0" marL="0">
              <a:lnSpc>
                <a:spcPct val="105000"/>
              </a:lnSpc>
              <a:buNone/>
            </a:pPr>
            <a:r>
              <a:rPr lang="en-US" sz="1350" b="1" dirty="0">
                <a:solidFill>
                  <a:srgbClr val="0B1F3A"/>
                </a:solidFill>
                <a:latin typeface="Calibri" pitchFamily="34" charset="0"/>
                <a:ea typeface="Calibri" pitchFamily="34" charset="-122"/>
                <a:cs typeface="Calibri" pitchFamily="34" charset="-120"/>
              </a:rPr>
              <a:t>Detectors decay  —  </a:t>
            </a:r>
            <a:pPr indent="0" marL="0">
              <a:lnSpc>
                <a:spcPct val="105000"/>
              </a:lnSpc>
              <a:buNone/>
            </a:pPr>
            <a:r>
              <a:rPr lang="en-US" sz="1350" dirty="0">
                <a:solidFill>
                  <a:srgbClr val="2B3A55"/>
                </a:solidFill>
                <a:latin typeface="Calibri" pitchFamily="34" charset="0"/>
                <a:ea typeface="Calibri" pitchFamily="34" charset="-122"/>
                <a:cs typeface="Calibri" pitchFamily="34" charset="-120"/>
              </a:rPr>
              <a:t>New GANs, diffusion models and voice cloners keep appearing; any fixed model goes stale.</a:t>
            </a:r>
            <a:endParaRPr lang="en-US" sz="1350" dirty="0"/>
          </a:p>
        </p:txBody>
      </p:sp>
      <p:sp>
        <p:nvSpPr>
          <p:cNvPr id="17" name="Shape 15"/>
          <p:cNvSpPr/>
          <p:nvPr/>
        </p:nvSpPr>
        <p:spPr>
          <a:xfrm>
            <a:off x="658368" y="4901184"/>
            <a:ext cx="384048" cy="384048"/>
          </a:xfrm>
          <a:prstGeom prst="roundRect">
            <a:avLst>
              <a:gd name="adj" fmla="val 19048"/>
            </a:avLst>
          </a:prstGeom>
          <a:solidFill>
            <a:srgbClr val="0B1F3A"/>
          </a:solidFill>
          <a:ln/>
        </p:spPr>
      </p:sp>
      <p:sp>
        <p:nvSpPr>
          <p:cNvPr id="18" name="Shape 16"/>
          <p:cNvSpPr/>
          <p:nvPr/>
        </p:nvSpPr>
        <p:spPr>
          <a:xfrm>
            <a:off x="786384" y="5029200"/>
            <a:ext cx="128016" cy="128016"/>
          </a:xfrm>
          <a:prstGeom prst="roundRect">
            <a:avLst>
              <a:gd name="adj" fmla="val 50000"/>
            </a:avLst>
          </a:prstGeom>
          <a:solidFill>
            <a:srgbClr val="12B5CB"/>
          </a:solidFill>
          <a:ln/>
        </p:spPr>
      </p:sp>
      <p:sp>
        <p:nvSpPr>
          <p:cNvPr id="19" name="Text 17"/>
          <p:cNvSpPr/>
          <p:nvPr/>
        </p:nvSpPr>
        <p:spPr>
          <a:xfrm>
            <a:off x="1234440" y="4855464"/>
            <a:ext cx="7955280" cy="914400"/>
          </a:xfrm>
          <a:prstGeom prst="rect">
            <a:avLst/>
          </a:prstGeom>
          <a:noFill/>
          <a:ln/>
        </p:spPr>
        <p:txBody>
          <a:bodyPr wrap="square" lIns="0" tIns="0" rIns="0" bIns="0" rtlCol="0" anchor="t"/>
          <a:lstStyle/>
          <a:p>
            <a:pPr indent="0" marL="0">
              <a:lnSpc>
                <a:spcPct val="105000"/>
              </a:lnSpc>
              <a:buNone/>
            </a:pPr>
            <a:r>
              <a:rPr lang="en-US" sz="1350" b="1" dirty="0">
                <a:solidFill>
                  <a:srgbClr val="0B1F3A"/>
                </a:solidFill>
                <a:latin typeface="Calibri" pitchFamily="34" charset="0"/>
                <a:ea typeface="Calibri" pitchFamily="34" charset="-122"/>
                <a:cs typeface="Calibri" pitchFamily="34" charset="-120"/>
              </a:rPr>
              <a:t>Provenance rarely reaches humans  —  </a:t>
            </a:r>
            <a:pPr indent="0" marL="0">
              <a:lnSpc>
                <a:spcPct val="105000"/>
              </a:lnSpc>
              <a:buNone/>
            </a:pPr>
            <a:r>
              <a:rPr lang="en-US" sz="1350" dirty="0">
                <a:solidFill>
                  <a:srgbClr val="2B3A55"/>
                </a:solidFill>
                <a:latin typeface="Calibri" pitchFamily="34" charset="0"/>
                <a:ea typeface="Calibri" pitchFamily="34" charset="-122"/>
                <a:cs typeface="Calibri" pitchFamily="34" charset="-120"/>
              </a:rPr>
              <a:t>Signals like C2PA exist but are not surfaced where an analyst makes the call.</a:t>
            </a:r>
            <a:endParaRPr lang="en-US" sz="1350" dirty="0"/>
          </a:p>
        </p:txBody>
      </p:sp>
      <p:sp>
        <p:nvSpPr>
          <p:cNvPr id="20" name="Shape 18"/>
          <p:cNvSpPr/>
          <p:nvPr/>
        </p:nvSpPr>
        <p:spPr>
          <a:xfrm>
            <a:off x="9555480" y="1783080"/>
            <a:ext cx="2194560" cy="4114800"/>
          </a:xfrm>
          <a:prstGeom prst="roundRect">
            <a:avLst>
              <a:gd name="adj" fmla="val 2292"/>
            </a:avLst>
          </a:prstGeom>
          <a:solidFill>
            <a:srgbClr val="0B1F3A"/>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1" name="Text 19"/>
          <p:cNvSpPr/>
          <p:nvPr/>
        </p:nvSpPr>
        <p:spPr>
          <a:xfrm>
            <a:off x="9692640" y="2011680"/>
            <a:ext cx="1920240" cy="822960"/>
          </a:xfrm>
          <a:prstGeom prst="rect">
            <a:avLst/>
          </a:prstGeom>
          <a:noFill/>
          <a:ln/>
        </p:spPr>
        <p:txBody>
          <a:bodyPr wrap="square" lIns="0" tIns="0" rIns="0" bIns="0" rtlCol="0" anchor="ctr"/>
          <a:lstStyle/>
          <a:p>
            <a:pPr indent="0" marL="0">
              <a:lnSpc>
                <a:spcPct val="115000"/>
              </a:lnSpc>
              <a:buNone/>
            </a:pPr>
            <a:r>
              <a:rPr lang="en-US" sz="1100" b="1" dirty="0">
                <a:solidFill>
                  <a:srgbClr val="12B5CB"/>
                </a:solidFill>
                <a:latin typeface="Courier New" pitchFamily="34" charset="0"/>
                <a:ea typeface="Courier New" pitchFamily="34" charset="-122"/>
                <a:cs typeface="Courier New" pitchFamily="34" charset="-120"/>
              </a:rPr>
              <a:t>WHAT ANALYSTS</a:t>
            </a:r>
            <a:endParaRPr lang="en-US" sz="1100" dirty="0"/>
          </a:p>
          <a:p>
            <a:pPr indent="0" marL="0">
              <a:lnSpc>
                <a:spcPct val="115000"/>
              </a:lnSpc>
              <a:buNone/>
            </a:pPr>
            <a:r>
              <a:rPr lang="en-US" sz="1100" b="1" dirty="0">
                <a:solidFill>
                  <a:srgbClr val="12B5CB"/>
                </a:solidFill>
                <a:latin typeface="Courier New" pitchFamily="34" charset="0"/>
                <a:ea typeface="Courier New" pitchFamily="34" charset="-122"/>
                <a:cs typeface="Courier New" pitchFamily="34" charset="-120"/>
              </a:rPr>
              <a:t>ACTUALLY NEED</a:t>
            </a:r>
            <a:endParaRPr lang="en-US" sz="1100" dirty="0"/>
          </a:p>
        </p:txBody>
      </p:sp>
      <p:sp>
        <p:nvSpPr>
          <p:cNvPr id="22" name="Text 20"/>
          <p:cNvSpPr/>
          <p:nvPr/>
        </p:nvSpPr>
        <p:spPr>
          <a:xfrm>
            <a:off x="9692640" y="2880360"/>
            <a:ext cx="1965960" cy="2834640"/>
          </a:xfrm>
          <a:prstGeom prst="rect">
            <a:avLst/>
          </a:prstGeom>
          <a:noFill/>
          <a:ln/>
        </p:spPr>
        <p:txBody>
          <a:bodyPr wrap="square" lIns="0" tIns="0" rIns="0" bIns="0" rtlCol="0" anchor="ctr"/>
          <a:lstStyle/>
          <a:p>
            <a:pPr indent="0" marL="0">
              <a:lnSpc>
                <a:spcPct val="112000"/>
              </a:lnSpc>
              <a:buNone/>
            </a:pPr>
            <a:r>
              <a:rPr lang="en-US" sz="1150" dirty="0">
                <a:solidFill>
                  <a:srgbClr val="FFFFFF"/>
                </a:solidFill>
                <a:latin typeface="Calibri" pitchFamily="34" charset="0"/>
                <a:ea typeface="Calibri" pitchFamily="34" charset="-122"/>
                <a:cs typeface="Calibri" pitchFamily="34" charset="-120"/>
              </a:rPr>
              <a:t>Explainable evidence
</a:t>
            </a:r>
            <a:endParaRPr lang="en-US" sz="1150" dirty="0"/>
          </a:p>
          <a:p>
            <a:pPr indent="0" marL="0">
              <a:lnSpc>
                <a:spcPct val="112000"/>
              </a:lnSpc>
              <a:buNone/>
            </a:pPr>
            <a:r>
              <a:rPr lang="en-US" sz="1150" i="1" dirty="0">
                <a:solidFill>
                  <a:srgbClr val="9FB2CC"/>
                </a:solidFill>
                <a:latin typeface="Calibri" pitchFamily="34" charset="0"/>
                <a:ea typeface="Calibri" pitchFamily="34" charset="-122"/>
                <a:cs typeface="Calibri" pitchFamily="34" charset="-120"/>
              </a:rPr>
              <a:t>not an opaque score
</a:t>
            </a:r>
            <a:endParaRPr lang="en-US" sz="1150" dirty="0"/>
          </a:p>
          <a:p>
            <a:pPr indent="0" marL="0">
              <a:lnSpc>
                <a:spcPct val="112000"/>
              </a:lnSpc>
              <a:buNone/>
            </a:pPr>
            <a:r>
              <a:rPr lang="en-US" sz="1150" dirty="0">
                <a:solidFill>
                  <a:srgbClr val="FFFFFF"/>
                </a:solidFill>
                <a:latin typeface="Calibri" pitchFamily="34" charset="0"/>
                <a:ea typeface="Calibri" pitchFamily="34" charset="-122"/>
                <a:cs typeface="Calibri" pitchFamily="34" charset="-120"/>
              </a:rPr>
              <a:t>Heatmap · EXIF
C2PA · audit trail
</a:t>
            </a:r>
            <a:endParaRPr lang="en-US" sz="1150" dirty="0"/>
          </a:p>
          <a:p>
            <a:pPr indent="0" marL="0">
              <a:lnSpc>
                <a:spcPct val="112000"/>
              </a:lnSpc>
              <a:buNone/>
            </a:pPr>
            <a:r>
              <a:rPr lang="en-US" sz="1150" dirty="0">
                <a:solidFill>
                  <a:srgbClr val="FFFFFF"/>
                </a:solidFill>
                <a:latin typeface="Calibri" pitchFamily="34" charset="0"/>
                <a:ea typeface="Calibri" pitchFamily="34" charset="-122"/>
                <a:cs typeface="Calibri" pitchFamily="34" charset="-120"/>
              </a:rPr>
              <a:t>A human-override</a:t>
            </a:r>
            <a:endParaRPr lang="en-US" sz="1150" dirty="0"/>
          </a:p>
          <a:p>
            <a:pPr indent="0" marL="0">
              <a:lnSpc>
                <a:spcPct val="112000"/>
              </a:lnSpc>
              <a:buNone/>
            </a:pPr>
            <a:r>
              <a:rPr lang="en-US" sz="1150" dirty="0">
                <a:solidFill>
                  <a:srgbClr val="FFFFFF"/>
                </a:solidFill>
                <a:latin typeface="Calibri" pitchFamily="34" charset="0"/>
                <a:ea typeface="Calibri" pitchFamily="34" charset="-122"/>
                <a:cs typeface="Calibri" pitchFamily="34" charset="-120"/>
              </a:rPr>
              <a:t>path on every verdict</a:t>
            </a:r>
            <a:endParaRPr lang="en-US" sz="1150" dirty="0"/>
          </a:p>
        </p:txBody>
      </p:sp>
      <p:sp>
        <p:nvSpPr>
          <p:cNvPr id="23" name="Text 21"/>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24" name="Text 22"/>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02 · PROGRESS MADE</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The platform is built and running</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Text 6"/>
          <p:cNvSpPr/>
          <p:nvPr/>
        </p:nvSpPr>
        <p:spPr>
          <a:xfrm>
            <a:off x="658368" y="1737360"/>
            <a:ext cx="6126480" cy="41148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50" dirty="0">
                <a:solidFill>
                  <a:srgbClr val="2B3A55"/>
                </a:solidFill>
                <a:latin typeface="Calibri" pitchFamily="34" charset="0"/>
                <a:ea typeface="Calibri" pitchFamily="34" charset="-122"/>
                <a:cs typeface="Calibri" pitchFamily="34" charset="-120"/>
              </a:rPr>
              <a:t>17-page React 18 + TypeScript + Vite + Tailwind SPA, fully routed</a:t>
            </a:r>
            <a:endParaRPr lang="en-US" sz="1350" dirty="0"/>
          </a:p>
          <a:p>
            <a:pPr marL="152400" indent="-152400">
              <a:lnSpc>
                <a:spcPct val="105000"/>
              </a:lnSpc>
              <a:spcAft>
                <a:spcPts val="1000"/>
              </a:spcAft>
              <a:buSzPct val="100000"/>
              <a:buChar char="•"/>
            </a:pPr>
            <a:r>
              <a:rPr lang="en-US" sz="1350" dirty="0">
                <a:solidFill>
                  <a:srgbClr val="2B3A55"/>
                </a:solidFill>
                <a:latin typeface="Calibri" pitchFamily="34" charset="0"/>
                <a:ea typeface="Calibri" pitchFamily="34" charset="-122"/>
                <a:cs typeface="Calibri" pitchFamily="34" charset="-120"/>
              </a:rPr>
              <a:t>SOC dashboard shell: Navbar, Sidebar, Footer, recharts analytics</a:t>
            </a:r>
            <a:endParaRPr lang="en-US" sz="1350" dirty="0"/>
          </a:p>
          <a:p>
            <a:pPr marL="152400" indent="-152400">
              <a:lnSpc>
                <a:spcPct val="105000"/>
              </a:lnSpc>
              <a:spcAft>
                <a:spcPts val="1000"/>
              </a:spcAft>
              <a:buSzPct val="100000"/>
              <a:buChar char="•"/>
            </a:pPr>
            <a:r>
              <a:rPr lang="en-US" sz="1350" dirty="0">
                <a:solidFill>
                  <a:srgbClr val="2B3A55"/>
                </a:solidFill>
                <a:latin typeface="Calibri" pitchFamily="34" charset="0"/>
                <a:ea typeface="Calibri" pitchFamily="34" charset="-122"/>
                <a:cs typeface="Calibri" pitchFamily="34" charset="-120"/>
              </a:rPr>
              <a:t>Express 4 TypeScript REST API — ~18 endpoints across 6 route groups</a:t>
            </a:r>
            <a:endParaRPr lang="en-US" sz="1350" dirty="0"/>
          </a:p>
          <a:p>
            <a:pPr marL="152400" indent="-152400">
              <a:lnSpc>
                <a:spcPct val="105000"/>
              </a:lnSpc>
              <a:spcAft>
                <a:spcPts val="1000"/>
              </a:spcAft>
              <a:buSzPct val="100000"/>
              <a:buChar char="•"/>
            </a:pPr>
            <a:r>
              <a:rPr lang="en-US" sz="1350" dirty="0">
                <a:solidFill>
                  <a:srgbClr val="2B3A55"/>
                </a:solidFill>
                <a:latin typeface="Calibri" pitchFamily="34" charset="0"/>
                <a:ea typeface="Calibri" pitchFamily="34" charset="-122"/>
                <a:cs typeface="Calibri" pitchFamily="34" charset="-120"/>
              </a:rPr>
              <a:t>Interactive forensic viewers: anomaly heatmap, video timeline, audio waveform</a:t>
            </a:r>
            <a:endParaRPr lang="en-US" sz="1350" dirty="0"/>
          </a:p>
          <a:p>
            <a:pPr marL="152400" indent="-152400">
              <a:lnSpc>
                <a:spcPct val="105000"/>
              </a:lnSpc>
              <a:spcAft>
                <a:spcPts val="1000"/>
              </a:spcAft>
              <a:buSzPct val="100000"/>
              <a:buChar char="•"/>
            </a:pPr>
            <a:r>
              <a:rPr lang="en-US" sz="1350" dirty="0">
                <a:solidFill>
                  <a:srgbClr val="2B3A55"/>
                </a:solidFill>
                <a:latin typeface="Calibri" pitchFamily="34" charset="0"/>
                <a:ea typeface="Calibri" pitchFamily="34" charset="-122"/>
                <a:cs typeface="Calibri" pitchFamily="34" charset="-120"/>
              </a:rPr>
              <a:t>8-table PostgreSQL schema wired via db/migrate.ts + a PgStore backend</a:t>
            </a:r>
            <a:endParaRPr lang="en-US" sz="1350" dirty="0"/>
          </a:p>
          <a:p>
            <a:pPr marL="152400" indent="-152400">
              <a:lnSpc>
                <a:spcPct val="105000"/>
              </a:lnSpc>
              <a:spcAft>
                <a:spcPts val="1000"/>
              </a:spcAft>
              <a:buSzPct val="100000"/>
              <a:buChar char="•"/>
            </a:pPr>
            <a:r>
              <a:rPr lang="en-US" sz="1350" dirty="0">
                <a:solidFill>
                  <a:srgbClr val="2B3A55"/>
                </a:solidFill>
                <a:latin typeface="Calibri" pitchFamily="34" charset="0"/>
                <a:ea typeface="Calibri" pitchFamily="34" charset="-122"/>
                <a:cs typeface="Calibri" pitchFamily="34" charset="-120"/>
              </a:rPr>
              <a:t>Runs with zero external services — local API + in-memory store, no GPU</a:t>
            </a:r>
            <a:endParaRPr lang="en-US" sz="1350" dirty="0"/>
          </a:p>
        </p:txBody>
      </p:sp>
      <p:sp>
        <p:nvSpPr>
          <p:cNvPr id="9" name="Shape 7"/>
          <p:cNvSpPr/>
          <p:nvPr/>
        </p:nvSpPr>
        <p:spPr>
          <a:xfrm>
            <a:off x="7086600" y="1691640"/>
            <a:ext cx="4709160" cy="4343400"/>
          </a:xfrm>
          <a:prstGeom prst="roundRect">
            <a:avLst>
              <a:gd name="adj" fmla="val 1158"/>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0" name="Text 8"/>
          <p:cNvSpPr/>
          <p:nvPr/>
        </p:nvSpPr>
        <p:spPr>
          <a:xfrm>
            <a:off x="7360920" y="1901952"/>
            <a:ext cx="4206240" cy="274320"/>
          </a:xfrm>
          <a:prstGeom prst="rect">
            <a:avLst/>
          </a:prstGeom>
          <a:noFill/>
          <a:ln/>
        </p:spPr>
        <p:txBody>
          <a:bodyPr wrap="square" lIns="0" tIns="0" rIns="0" bIns="0" rtlCol="0" anchor="ctr"/>
          <a:lstStyle/>
          <a:p>
            <a:pPr indent="0" marL="0">
              <a:buNone/>
            </a:pPr>
            <a:r>
              <a:rPr lang="en-US" sz="1000" b="1" dirty="0">
                <a:solidFill>
                  <a:srgbClr val="6B7A99"/>
                </a:solidFill>
                <a:latin typeface="Courier New" pitchFamily="34" charset="0"/>
                <a:ea typeface="Courier New" pitchFamily="34" charset="-122"/>
                <a:cs typeface="Courier New" pitchFamily="34" charset="-120"/>
              </a:rPr>
              <a:t>WHAT SHIPPED, BY COUNT</a:t>
            </a:r>
            <a:endParaRPr lang="en-US" sz="1000" dirty="0"/>
          </a:p>
        </p:txBody>
      </p:sp>
      <p:sp>
        <p:nvSpPr>
          <p:cNvPr id="11" name="Text 9"/>
          <p:cNvSpPr/>
          <p:nvPr/>
        </p:nvSpPr>
        <p:spPr>
          <a:xfrm>
            <a:off x="7360920" y="2432304"/>
            <a:ext cx="4114800" cy="237744"/>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Pages</a:t>
            </a:r>
            <a:endParaRPr lang="en-US" sz="1050" dirty="0"/>
          </a:p>
        </p:txBody>
      </p:sp>
      <p:sp>
        <p:nvSpPr>
          <p:cNvPr id="12" name="Shape 10"/>
          <p:cNvSpPr/>
          <p:nvPr/>
        </p:nvSpPr>
        <p:spPr>
          <a:xfrm>
            <a:off x="7360920" y="2688336"/>
            <a:ext cx="3017520" cy="274320"/>
          </a:xfrm>
          <a:prstGeom prst="roundRect">
            <a:avLst>
              <a:gd name="adj" fmla="val 10000"/>
            </a:avLst>
          </a:prstGeom>
          <a:solidFill>
            <a:srgbClr val="E6EBF4"/>
          </a:solidFill>
          <a:ln/>
        </p:spPr>
      </p:sp>
      <p:sp>
        <p:nvSpPr>
          <p:cNvPr id="13" name="Shape 11"/>
          <p:cNvSpPr/>
          <p:nvPr/>
        </p:nvSpPr>
        <p:spPr>
          <a:xfrm>
            <a:off x="7360920" y="2688336"/>
            <a:ext cx="2564892" cy="274320"/>
          </a:xfrm>
          <a:prstGeom prst="roundRect">
            <a:avLst>
              <a:gd name="adj" fmla="val 10000"/>
            </a:avLst>
          </a:prstGeom>
          <a:solidFill>
            <a:srgbClr val="12B5CB"/>
          </a:solidFill>
          <a:ln/>
        </p:spPr>
      </p:sp>
      <p:sp>
        <p:nvSpPr>
          <p:cNvPr id="14" name="Text 12"/>
          <p:cNvSpPr/>
          <p:nvPr/>
        </p:nvSpPr>
        <p:spPr>
          <a:xfrm>
            <a:off x="10488168" y="2651760"/>
            <a:ext cx="64008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17</a:t>
            </a:r>
            <a:endParaRPr lang="en-US" sz="1300" dirty="0"/>
          </a:p>
        </p:txBody>
      </p:sp>
      <p:sp>
        <p:nvSpPr>
          <p:cNvPr id="15" name="Text 13"/>
          <p:cNvSpPr/>
          <p:nvPr/>
        </p:nvSpPr>
        <p:spPr>
          <a:xfrm>
            <a:off x="7360920" y="3118104"/>
            <a:ext cx="4114800" cy="237744"/>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UI components</a:t>
            </a:r>
            <a:endParaRPr lang="en-US" sz="1050" dirty="0"/>
          </a:p>
        </p:txBody>
      </p:sp>
      <p:sp>
        <p:nvSpPr>
          <p:cNvPr id="16" name="Shape 14"/>
          <p:cNvSpPr/>
          <p:nvPr/>
        </p:nvSpPr>
        <p:spPr>
          <a:xfrm>
            <a:off x="7360920" y="3374136"/>
            <a:ext cx="3017520" cy="274320"/>
          </a:xfrm>
          <a:prstGeom prst="roundRect">
            <a:avLst>
              <a:gd name="adj" fmla="val 10000"/>
            </a:avLst>
          </a:prstGeom>
          <a:solidFill>
            <a:srgbClr val="E6EBF4"/>
          </a:solidFill>
          <a:ln/>
        </p:spPr>
      </p:sp>
      <p:sp>
        <p:nvSpPr>
          <p:cNvPr id="17" name="Shape 15"/>
          <p:cNvSpPr/>
          <p:nvPr/>
        </p:nvSpPr>
        <p:spPr>
          <a:xfrm>
            <a:off x="7360920" y="3374136"/>
            <a:ext cx="1508760" cy="274320"/>
          </a:xfrm>
          <a:prstGeom prst="roundRect">
            <a:avLst>
              <a:gd name="adj" fmla="val 10000"/>
            </a:avLst>
          </a:prstGeom>
          <a:solidFill>
            <a:srgbClr val="12B5CB"/>
          </a:solidFill>
          <a:ln/>
        </p:spPr>
      </p:sp>
      <p:sp>
        <p:nvSpPr>
          <p:cNvPr id="18" name="Text 16"/>
          <p:cNvSpPr/>
          <p:nvPr/>
        </p:nvSpPr>
        <p:spPr>
          <a:xfrm>
            <a:off x="10488168" y="3337560"/>
            <a:ext cx="64008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10</a:t>
            </a:r>
            <a:endParaRPr lang="en-US" sz="1300" dirty="0"/>
          </a:p>
        </p:txBody>
      </p:sp>
      <p:sp>
        <p:nvSpPr>
          <p:cNvPr id="19" name="Text 17"/>
          <p:cNvSpPr/>
          <p:nvPr/>
        </p:nvSpPr>
        <p:spPr>
          <a:xfrm>
            <a:off x="7360920" y="3803904"/>
            <a:ext cx="4114800" cy="237744"/>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API endpoints</a:t>
            </a:r>
            <a:endParaRPr lang="en-US" sz="1050" dirty="0"/>
          </a:p>
        </p:txBody>
      </p:sp>
      <p:sp>
        <p:nvSpPr>
          <p:cNvPr id="20" name="Shape 18"/>
          <p:cNvSpPr/>
          <p:nvPr/>
        </p:nvSpPr>
        <p:spPr>
          <a:xfrm>
            <a:off x="7360920" y="4059936"/>
            <a:ext cx="3017520" cy="274320"/>
          </a:xfrm>
          <a:prstGeom prst="roundRect">
            <a:avLst>
              <a:gd name="adj" fmla="val 10000"/>
            </a:avLst>
          </a:prstGeom>
          <a:solidFill>
            <a:srgbClr val="E6EBF4"/>
          </a:solidFill>
          <a:ln/>
        </p:spPr>
      </p:sp>
      <p:sp>
        <p:nvSpPr>
          <p:cNvPr id="21" name="Shape 19"/>
          <p:cNvSpPr/>
          <p:nvPr/>
        </p:nvSpPr>
        <p:spPr>
          <a:xfrm>
            <a:off x="7360920" y="4059936"/>
            <a:ext cx="2715768" cy="274320"/>
          </a:xfrm>
          <a:prstGeom prst="roundRect">
            <a:avLst>
              <a:gd name="adj" fmla="val 10000"/>
            </a:avLst>
          </a:prstGeom>
          <a:solidFill>
            <a:srgbClr val="12B5CB"/>
          </a:solidFill>
          <a:ln/>
        </p:spPr>
      </p:sp>
      <p:sp>
        <p:nvSpPr>
          <p:cNvPr id="22" name="Text 20"/>
          <p:cNvSpPr/>
          <p:nvPr/>
        </p:nvSpPr>
        <p:spPr>
          <a:xfrm>
            <a:off x="10488168" y="4023360"/>
            <a:ext cx="64008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18</a:t>
            </a:r>
            <a:endParaRPr lang="en-US" sz="1300" dirty="0"/>
          </a:p>
        </p:txBody>
      </p:sp>
      <p:sp>
        <p:nvSpPr>
          <p:cNvPr id="23" name="Text 21"/>
          <p:cNvSpPr/>
          <p:nvPr/>
        </p:nvSpPr>
        <p:spPr>
          <a:xfrm>
            <a:off x="7360920" y="4489704"/>
            <a:ext cx="4114800" cy="237744"/>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DB tables</a:t>
            </a:r>
            <a:endParaRPr lang="en-US" sz="1050" dirty="0"/>
          </a:p>
        </p:txBody>
      </p:sp>
      <p:sp>
        <p:nvSpPr>
          <p:cNvPr id="24" name="Shape 22"/>
          <p:cNvSpPr/>
          <p:nvPr/>
        </p:nvSpPr>
        <p:spPr>
          <a:xfrm>
            <a:off x="7360920" y="4745736"/>
            <a:ext cx="3017520" cy="274320"/>
          </a:xfrm>
          <a:prstGeom prst="roundRect">
            <a:avLst>
              <a:gd name="adj" fmla="val 10000"/>
            </a:avLst>
          </a:prstGeom>
          <a:solidFill>
            <a:srgbClr val="E6EBF4"/>
          </a:solidFill>
          <a:ln/>
        </p:spPr>
      </p:sp>
      <p:sp>
        <p:nvSpPr>
          <p:cNvPr id="25" name="Shape 23"/>
          <p:cNvSpPr/>
          <p:nvPr/>
        </p:nvSpPr>
        <p:spPr>
          <a:xfrm>
            <a:off x="7360920" y="4745736"/>
            <a:ext cx="1207008" cy="274320"/>
          </a:xfrm>
          <a:prstGeom prst="roundRect">
            <a:avLst>
              <a:gd name="adj" fmla="val 10000"/>
            </a:avLst>
          </a:prstGeom>
          <a:solidFill>
            <a:srgbClr val="12B5CB"/>
          </a:solidFill>
          <a:ln/>
        </p:spPr>
      </p:sp>
      <p:sp>
        <p:nvSpPr>
          <p:cNvPr id="26" name="Text 24"/>
          <p:cNvSpPr/>
          <p:nvPr/>
        </p:nvSpPr>
        <p:spPr>
          <a:xfrm>
            <a:off x="10488168" y="4709160"/>
            <a:ext cx="64008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8</a:t>
            </a:r>
            <a:endParaRPr lang="en-US" sz="1300" dirty="0"/>
          </a:p>
        </p:txBody>
      </p:sp>
      <p:sp>
        <p:nvSpPr>
          <p:cNvPr id="27" name="Text 25"/>
          <p:cNvSpPr/>
          <p:nvPr/>
        </p:nvSpPr>
        <p:spPr>
          <a:xfrm>
            <a:off x="7360920" y="5175504"/>
            <a:ext cx="4114800" cy="237744"/>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Passing tests</a:t>
            </a:r>
            <a:endParaRPr lang="en-US" sz="1050" dirty="0"/>
          </a:p>
        </p:txBody>
      </p:sp>
      <p:sp>
        <p:nvSpPr>
          <p:cNvPr id="28" name="Shape 26"/>
          <p:cNvSpPr/>
          <p:nvPr/>
        </p:nvSpPr>
        <p:spPr>
          <a:xfrm>
            <a:off x="7360920" y="5431536"/>
            <a:ext cx="3017520" cy="274320"/>
          </a:xfrm>
          <a:prstGeom prst="roundRect">
            <a:avLst>
              <a:gd name="adj" fmla="val 10000"/>
            </a:avLst>
          </a:prstGeom>
          <a:solidFill>
            <a:srgbClr val="E6EBF4"/>
          </a:solidFill>
          <a:ln/>
        </p:spPr>
      </p:sp>
      <p:sp>
        <p:nvSpPr>
          <p:cNvPr id="29" name="Shape 27"/>
          <p:cNvSpPr/>
          <p:nvPr/>
        </p:nvSpPr>
        <p:spPr>
          <a:xfrm>
            <a:off x="7360920" y="5431536"/>
            <a:ext cx="3017520" cy="274320"/>
          </a:xfrm>
          <a:prstGeom prst="roundRect">
            <a:avLst>
              <a:gd name="adj" fmla="val 10000"/>
            </a:avLst>
          </a:prstGeom>
          <a:solidFill>
            <a:srgbClr val="12B5CB"/>
          </a:solidFill>
          <a:ln/>
        </p:spPr>
      </p:sp>
      <p:sp>
        <p:nvSpPr>
          <p:cNvPr id="30" name="Text 28"/>
          <p:cNvSpPr/>
          <p:nvPr/>
        </p:nvSpPr>
        <p:spPr>
          <a:xfrm>
            <a:off x="10488168" y="5394960"/>
            <a:ext cx="64008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20</a:t>
            </a:r>
            <a:endParaRPr lang="en-US" sz="1300" dirty="0"/>
          </a:p>
        </p:txBody>
      </p:sp>
      <p:sp>
        <p:nvSpPr>
          <p:cNvPr id="31" name="Text 29"/>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32" name="Text 30"/>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03 · PROGRESS MADE</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A real forensic engine behind one seam</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Text 6"/>
          <p:cNvSpPr/>
          <p:nvPr/>
        </p:nvSpPr>
        <p:spPr>
          <a:xfrm>
            <a:off x="658368" y="1737360"/>
            <a:ext cx="5806440" cy="41148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One MediaAnalyzer interface isolates the whole engine</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analyze(input) → Promise&lt;AnalysisCase&gt; — one env-selected injection point</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Default engine reads bytes: ELA heatmap · noise stats · EXIF · C2PA probe</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Real signal, no ML model — output labelled modelVersion "forensic-v1-noml"</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Weighted aggregation → verdict, authenticity score, manipulation probability</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Switching to the model service is one env flip: ANALYZER=pytorch</a:t>
            </a:r>
            <a:endParaRPr lang="en-US" sz="1250" dirty="0"/>
          </a:p>
        </p:txBody>
      </p:sp>
      <p:sp>
        <p:nvSpPr>
          <p:cNvPr id="9" name="Shape 7"/>
          <p:cNvSpPr/>
          <p:nvPr/>
        </p:nvSpPr>
        <p:spPr>
          <a:xfrm>
            <a:off x="8138160" y="1783080"/>
            <a:ext cx="2194560" cy="566928"/>
          </a:xfrm>
          <a:prstGeom prst="roundRect">
            <a:avLst>
              <a:gd name="adj" fmla="val 8065"/>
            </a:avLst>
          </a:prstGeom>
          <a:solidFill>
            <a:srgbClr val="FFFFFF"/>
          </a:solidFill>
          <a:ln w="19050">
            <a:solidFill>
              <a:srgbClr val="0B1F3A"/>
            </a:solidFill>
            <a:prstDash val="solid"/>
          </a:ln>
        </p:spPr>
      </p:sp>
      <p:sp>
        <p:nvSpPr>
          <p:cNvPr id="10" name="Text 8"/>
          <p:cNvSpPr/>
          <p:nvPr/>
        </p:nvSpPr>
        <p:spPr>
          <a:xfrm>
            <a:off x="8193024" y="1783080"/>
            <a:ext cx="2084832" cy="566928"/>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analyzeController → build(ANALYZER)</a:t>
            </a:r>
            <a:endParaRPr lang="en-US" sz="900" dirty="0"/>
          </a:p>
        </p:txBody>
      </p:sp>
      <p:sp>
        <p:nvSpPr>
          <p:cNvPr id="11" name="Shape 9"/>
          <p:cNvSpPr/>
          <p:nvPr/>
        </p:nvSpPr>
        <p:spPr>
          <a:xfrm>
            <a:off x="9235440" y="2350008"/>
            <a:ext cx="0" cy="384048"/>
          </a:xfrm>
          <a:prstGeom prst="line">
            <a:avLst/>
          </a:prstGeom>
          <a:noFill/>
          <a:ln w="22225">
            <a:solidFill>
              <a:srgbClr val="6B7A99"/>
            </a:solidFill>
            <a:prstDash val="solid"/>
            <a:tailEnd type="triangle"/>
          </a:ln>
        </p:spPr>
      </p:sp>
      <p:sp>
        <p:nvSpPr>
          <p:cNvPr id="12" name="Shape 10"/>
          <p:cNvSpPr/>
          <p:nvPr/>
        </p:nvSpPr>
        <p:spPr>
          <a:xfrm>
            <a:off x="6858000" y="2761488"/>
            <a:ext cx="4754880" cy="566928"/>
          </a:xfrm>
          <a:prstGeom prst="roundRect">
            <a:avLst>
              <a:gd name="adj" fmla="val 8065"/>
            </a:avLst>
          </a:prstGeom>
          <a:solidFill>
            <a:srgbClr val="FFFFFF"/>
          </a:solidFill>
          <a:ln w="19050">
            <a:solidFill>
              <a:srgbClr val="12B5CB"/>
            </a:solidFill>
            <a:prstDash val="solid"/>
          </a:ln>
        </p:spPr>
      </p:sp>
      <p:sp>
        <p:nvSpPr>
          <p:cNvPr id="13" name="Text 11"/>
          <p:cNvSpPr/>
          <p:nvPr/>
        </p:nvSpPr>
        <p:spPr>
          <a:xfrm>
            <a:off x="6912864" y="2761488"/>
            <a:ext cx="4645152" cy="566928"/>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MediaAnalyzer  ·  analyze() → AnalysisCase</a:t>
            </a:r>
            <a:endParaRPr lang="en-US" sz="900" dirty="0"/>
          </a:p>
        </p:txBody>
      </p:sp>
      <p:sp>
        <p:nvSpPr>
          <p:cNvPr id="14" name="Shape 12"/>
          <p:cNvSpPr/>
          <p:nvPr/>
        </p:nvSpPr>
        <p:spPr>
          <a:xfrm flipH="1">
            <a:off x="7452360" y="3328416"/>
            <a:ext cx="182880" cy="457200"/>
          </a:xfrm>
          <a:prstGeom prst="line">
            <a:avLst/>
          </a:prstGeom>
          <a:noFill/>
          <a:ln w="22225">
            <a:solidFill>
              <a:srgbClr val="6B7A99"/>
            </a:solidFill>
            <a:prstDash val="solid"/>
            <a:tailEnd type="triangle"/>
          </a:ln>
        </p:spPr>
      </p:sp>
      <p:sp>
        <p:nvSpPr>
          <p:cNvPr id="15" name="Shape 13"/>
          <p:cNvSpPr/>
          <p:nvPr/>
        </p:nvSpPr>
        <p:spPr>
          <a:xfrm>
            <a:off x="9235440" y="3328416"/>
            <a:ext cx="0" cy="457200"/>
          </a:xfrm>
          <a:prstGeom prst="line">
            <a:avLst/>
          </a:prstGeom>
          <a:noFill/>
          <a:ln w="22225">
            <a:solidFill>
              <a:srgbClr val="6B7A99"/>
            </a:solidFill>
            <a:prstDash val="solid"/>
            <a:tailEnd type="triangle"/>
          </a:ln>
        </p:spPr>
      </p:sp>
      <p:sp>
        <p:nvSpPr>
          <p:cNvPr id="16" name="Shape 14"/>
          <p:cNvSpPr/>
          <p:nvPr/>
        </p:nvSpPr>
        <p:spPr>
          <a:xfrm>
            <a:off x="10881360" y="3328416"/>
            <a:ext cx="182880" cy="457200"/>
          </a:xfrm>
          <a:prstGeom prst="line">
            <a:avLst/>
          </a:prstGeom>
          <a:noFill/>
          <a:ln w="22225">
            <a:solidFill>
              <a:srgbClr val="6B7A99"/>
            </a:solidFill>
            <a:prstDash val="solid"/>
            <a:tailEnd type="triangle"/>
          </a:ln>
        </p:spPr>
      </p:sp>
      <p:sp>
        <p:nvSpPr>
          <p:cNvPr id="17" name="Shape 15"/>
          <p:cNvSpPr/>
          <p:nvPr/>
        </p:nvSpPr>
        <p:spPr>
          <a:xfrm>
            <a:off x="6720840" y="3840480"/>
            <a:ext cx="1627632" cy="566928"/>
          </a:xfrm>
          <a:prstGeom prst="roundRect">
            <a:avLst>
              <a:gd name="adj" fmla="val 8065"/>
            </a:avLst>
          </a:prstGeom>
          <a:solidFill>
            <a:srgbClr val="FFFFFF"/>
          </a:solidFill>
          <a:ln w="19050">
            <a:solidFill>
              <a:srgbClr val="12B5CB"/>
            </a:solidFill>
            <a:prstDash val="solid"/>
          </a:ln>
        </p:spPr>
      </p:sp>
      <p:sp>
        <p:nvSpPr>
          <p:cNvPr id="18" name="Text 16"/>
          <p:cNvSpPr/>
          <p:nvPr/>
        </p:nvSpPr>
        <p:spPr>
          <a:xfrm>
            <a:off x="6775704" y="3840480"/>
            <a:ext cx="1517904" cy="566928"/>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Forensic</a:t>
            </a:r>
            <a:endParaRPr lang="en-US" sz="900" dirty="0"/>
          </a:p>
          <a:p>
            <a:pPr algn="ctr" indent="0" marL="0">
              <a:buNone/>
            </a:pPr>
            <a:r>
              <a:rPr lang="en-US" sz="900" b="1" dirty="0">
                <a:solidFill>
                  <a:srgbClr val="0B1F3A"/>
                </a:solidFill>
                <a:latin typeface="Courier New" pitchFamily="34" charset="0"/>
                <a:ea typeface="Courier New" pitchFamily="34" charset="-122"/>
                <a:cs typeface="Courier New" pitchFamily="34" charset="-120"/>
              </a:rPr>
              <a:t>(default)</a:t>
            </a:r>
            <a:endParaRPr lang="en-US" sz="900" dirty="0"/>
          </a:p>
        </p:txBody>
      </p:sp>
      <p:sp>
        <p:nvSpPr>
          <p:cNvPr id="19" name="Shape 17"/>
          <p:cNvSpPr/>
          <p:nvPr/>
        </p:nvSpPr>
        <p:spPr>
          <a:xfrm>
            <a:off x="8421624" y="3840480"/>
            <a:ext cx="1627632" cy="566928"/>
          </a:xfrm>
          <a:prstGeom prst="roundRect">
            <a:avLst>
              <a:gd name="adj" fmla="val 8065"/>
            </a:avLst>
          </a:prstGeom>
          <a:solidFill>
            <a:srgbClr val="FFFFFF"/>
          </a:solidFill>
          <a:ln w="19050">
            <a:solidFill>
              <a:srgbClr val="0E6E7E"/>
            </a:solidFill>
            <a:prstDash val="solid"/>
          </a:ln>
        </p:spPr>
      </p:sp>
      <p:sp>
        <p:nvSpPr>
          <p:cNvPr id="20" name="Text 18"/>
          <p:cNvSpPr/>
          <p:nvPr/>
        </p:nvSpPr>
        <p:spPr>
          <a:xfrm>
            <a:off x="8476488" y="3840480"/>
            <a:ext cx="1517904" cy="566928"/>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PyTorch</a:t>
            </a:r>
            <a:endParaRPr lang="en-US" sz="900" dirty="0"/>
          </a:p>
          <a:p>
            <a:pPr algn="ctr" indent="0" marL="0">
              <a:buNone/>
            </a:pPr>
            <a:r>
              <a:rPr lang="en-US" sz="900" b="1" dirty="0">
                <a:solidFill>
                  <a:srgbClr val="0B1F3A"/>
                </a:solidFill>
                <a:latin typeface="Courier New" pitchFamily="34" charset="0"/>
                <a:ea typeface="Courier New" pitchFamily="34" charset="-122"/>
                <a:cs typeface="Courier New" pitchFamily="34" charset="-120"/>
              </a:rPr>
              <a:t>→ FastAPI</a:t>
            </a:r>
            <a:endParaRPr lang="en-US" sz="900" dirty="0"/>
          </a:p>
        </p:txBody>
      </p:sp>
      <p:sp>
        <p:nvSpPr>
          <p:cNvPr id="21" name="Shape 19"/>
          <p:cNvSpPr/>
          <p:nvPr/>
        </p:nvSpPr>
        <p:spPr>
          <a:xfrm>
            <a:off x="10122408" y="3840480"/>
            <a:ext cx="1627632" cy="566928"/>
          </a:xfrm>
          <a:prstGeom prst="roundRect">
            <a:avLst>
              <a:gd name="adj" fmla="val 8065"/>
            </a:avLst>
          </a:prstGeom>
          <a:solidFill>
            <a:srgbClr val="FFFFFF"/>
          </a:solidFill>
          <a:ln w="19050">
            <a:solidFill>
              <a:srgbClr val="6B7A99"/>
            </a:solidFill>
            <a:prstDash val="dash"/>
          </a:ln>
        </p:spPr>
      </p:sp>
      <p:sp>
        <p:nvSpPr>
          <p:cNvPr id="22" name="Text 20"/>
          <p:cNvSpPr/>
          <p:nvPr/>
        </p:nvSpPr>
        <p:spPr>
          <a:xfrm>
            <a:off x="10177272" y="3840480"/>
            <a:ext cx="1517904" cy="566928"/>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Mock</a:t>
            </a:r>
            <a:endParaRPr lang="en-US" sz="900" dirty="0"/>
          </a:p>
          <a:p>
            <a:pPr algn="ctr" indent="0" marL="0">
              <a:buNone/>
            </a:pPr>
            <a:r>
              <a:rPr lang="en-US" sz="900" b="1" dirty="0">
                <a:solidFill>
                  <a:srgbClr val="0B1F3A"/>
                </a:solidFill>
                <a:latin typeface="Courier New" pitchFamily="34" charset="0"/>
                <a:ea typeface="Courier New" pitchFamily="34" charset="-122"/>
                <a:cs typeface="Courier New" pitchFamily="34" charset="-120"/>
              </a:rPr>
              <a:t>(demo only)</a:t>
            </a:r>
            <a:endParaRPr lang="en-US" sz="900" dirty="0"/>
          </a:p>
        </p:txBody>
      </p:sp>
      <p:sp>
        <p:nvSpPr>
          <p:cNvPr id="23" name="Text 21"/>
          <p:cNvSpPr/>
          <p:nvPr/>
        </p:nvSpPr>
        <p:spPr>
          <a:xfrm>
            <a:off x="6720840" y="4754880"/>
            <a:ext cx="5029200" cy="822960"/>
          </a:xfrm>
          <a:prstGeom prst="rect">
            <a:avLst/>
          </a:prstGeom>
          <a:noFill/>
          <a:ln/>
        </p:spPr>
        <p:txBody>
          <a:bodyPr wrap="square" lIns="0" tIns="0" rIns="0" bIns="0" rtlCol="0" anchor="ctr"/>
          <a:lstStyle/>
          <a:p>
            <a:pPr algn="ctr" indent="0" marL="0">
              <a:lnSpc>
                <a:spcPct val="112000"/>
              </a:lnSpc>
              <a:buNone/>
            </a:pPr>
            <a:r>
              <a:rPr lang="en-US" sz="1000" i="1" dirty="0">
                <a:solidFill>
                  <a:srgbClr val="6B7A99"/>
                </a:solidFill>
                <a:latin typeface="Calibri" pitchFamily="34" charset="0"/>
                <a:ea typeface="Calibri" pitchFamily="34" charset="-122"/>
                <a:cs typeface="Calibri" pitchFamily="34" charset="-120"/>
              </a:rPr>
              <a:t>Forensic engine computes signal from the file itself — no model is trained, loaded, or called. A trained model is the third plug.</a:t>
            </a:r>
            <a:endParaRPr lang="en-US" sz="1000" dirty="0"/>
          </a:p>
        </p:txBody>
      </p:sp>
      <p:sp>
        <p:nvSpPr>
          <p:cNvPr id="24" name="Text 22"/>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25" name="Text 23"/>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04 · FEATURES IMPLEMENTED</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Frontend surface — 17 pages</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Text 6"/>
          <p:cNvSpPr/>
          <p:nvPr/>
        </p:nvSpPr>
        <p:spPr>
          <a:xfrm>
            <a:off x="658368" y="1737360"/>
            <a:ext cx="5852160" cy="41148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Landing, Login, Register, Dashboard, Analyze, Processing, Results</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Evidence viewer, Case History, Case Detail, Provenance, Reports</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Human Review Queue, API Docs, Settings, Help &amp; Learn, 404</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Drag-drop upload or URL input, plus three one-click demo samples</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Recharts dashboard: KPI cards, 7-day trend, verdict-distribution donut</a:t>
            </a:r>
            <a:endParaRPr lang="en-US" sz="1250" dirty="0"/>
          </a:p>
          <a:p>
            <a:pPr marL="152400" indent="-152400">
              <a:lnSpc>
                <a:spcPct val="105000"/>
              </a:lnSpc>
              <a:spcAft>
                <a:spcPts val="1000"/>
              </a:spcAft>
              <a:buSzPct val="100000"/>
              <a:buChar char="•"/>
            </a:pPr>
            <a:r>
              <a:rPr lang="en-US" sz="1250" dirty="0">
                <a:solidFill>
                  <a:srgbClr val="2B3A55"/>
                </a:solidFill>
                <a:latin typeface="Calibri" pitchFamily="34" charset="0"/>
                <a:ea typeface="Calibri" pitchFamily="34" charset="-122"/>
                <a:cs typeface="Calibri" pitchFamily="34" charset="-120"/>
              </a:rPr>
              <a:t>Heatmap canvas: original / heatmap / overlay / split + opacity slider</a:t>
            </a:r>
            <a:endParaRPr lang="en-US" sz="1250" dirty="0"/>
          </a:p>
        </p:txBody>
      </p:sp>
      <p:sp>
        <p:nvSpPr>
          <p:cNvPr id="9" name="Shape 7"/>
          <p:cNvSpPr/>
          <p:nvPr/>
        </p:nvSpPr>
        <p:spPr>
          <a:xfrm>
            <a:off x="6665976" y="2093976"/>
            <a:ext cx="5184648" cy="2559801"/>
          </a:xfrm>
          <a:prstGeom prst="roundRect">
            <a:avLst>
              <a:gd name="adj" fmla="val 1429"/>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pic>
        <p:nvPicPr>
          <p:cNvPr id="10" name="Image 0" descr="E:\Hackathons\Omnikon National Hackathon 2026\phase2\screenshots\12-forensic-ela-heatmap.jpg">    </p:cNvPr>
          <p:cNvPicPr>
            <a:picLocks noChangeAspect="1"/>
          </p:cNvPicPr>
          <p:nvPr/>
        </p:nvPicPr>
        <p:blipFill>
          <a:blip r:embed="rId1"/>
          <a:stretch>
            <a:fillRect/>
          </a:stretch>
        </p:blipFill>
        <p:spPr>
          <a:xfrm>
            <a:off x="6720840" y="2148840"/>
            <a:ext cx="5074920" cy="2450073"/>
          </a:xfrm>
          <a:prstGeom prst="rect">
            <a:avLst/>
          </a:prstGeom>
        </p:spPr>
      </p:pic>
      <p:sp>
        <p:nvSpPr>
          <p:cNvPr id="11" name="Text 8"/>
          <p:cNvSpPr/>
          <p:nvPr/>
        </p:nvSpPr>
        <p:spPr>
          <a:xfrm>
            <a:off x="6720840" y="4672065"/>
            <a:ext cx="5074920" cy="274320"/>
          </a:xfrm>
          <a:prstGeom prst="rect">
            <a:avLst/>
          </a:prstGeom>
          <a:noFill/>
          <a:ln/>
        </p:spPr>
        <p:txBody>
          <a:bodyPr wrap="square" lIns="0" tIns="0" rIns="0" bIns="0" rtlCol="0" anchor="ctr"/>
          <a:lstStyle/>
          <a:p>
            <a:pPr algn="ctr" indent="0" marL="0">
              <a:buNone/>
            </a:pPr>
            <a:r>
              <a:rPr lang="en-US" sz="850" dirty="0">
                <a:solidFill>
                  <a:srgbClr val="6B7A99"/>
                </a:solidFill>
                <a:latin typeface="Courier New" pitchFamily="34" charset="0"/>
                <a:ea typeface="Courier New" pitchFamily="34" charset="-122"/>
                <a:cs typeface="Courier New" pitchFamily="34" charset="-120"/>
              </a:rPr>
              <a:t>Evidence viewer — real 8×8 ELA residual grid over the uploaded file</a:t>
            </a:r>
            <a:endParaRPr lang="en-US" sz="850" dirty="0"/>
          </a:p>
        </p:txBody>
      </p:sp>
      <p:sp>
        <p:nvSpPr>
          <p:cNvPr id="12" name="Text 9"/>
          <p:cNvSpPr/>
          <p:nvPr/>
        </p:nvSpPr>
        <p:spPr>
          <a:xfrm>
            <a:off x="6720840" y="5212080"/>
            <a:ext cx="5074920" cy="822960"/>
          </a:xfrm>
          <a:prstGeom prst="rect">
            <a:avLst/>
          </a:prstGeom>
          <a:noFill/>
          <a:ln/>
        </p:spPr>
        <p:txBody>
          <a:bodyPr wrap="square" lIns="0" tIns="0" rIns="0" bIns="0" rtlCol="0" anchor="ctr"/>
          <a:lstStyle/>
          <a:p>
            <a:pPr algn="ctr" indent="0" marL="0">
              <a:lnSpc>
                <a:spcPct val="112000"/>
              </a:lnSpc>
              <a:buNone/>
            </a:pPr>
            <a:r>
              <a:rPr lang="en-US" sz="950" i="1" dirty="0">
                <a:solidFill>
                  <a:srgbClr val="6B7A99"/>
                </a:solidFill>
                <a:latin typeface="Calibri" pitchFamily="34" charset="0"/>
                <a:ea typeface="Calibri" pitchFamily="34" charset="-122"/>
                <a:cs typeface="Calibri" pitchFamily="34" charset="-120"/>
              </a:rPr>
              <a:t>Heatmap is computed from pixels by sharp — not model gradients. Video/audio viewers are real UI, single anomaly marker pending the model service.</a:t>
            </a:r>
            <a:endParaRPr lang="en-US" sz="950" dirty="0"/>
          </a:p>
        </p:txBody>
      </p:sp>
      <p:sp>
        <p:nvSpPr>
          <p:cNvPr id="13" name="Text 10"/>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14" name="Text 11"/>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05 · FEATURES IMPLEMENTED</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API, auth &amp; working end-to-end flows</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58368" y="1874520"/>
            <a:ext cx="1737360" cy="713232"/>
          </a:xfrm>
          <a:prstGeom prst="roundRect">
            <a:avLst>
              <a:gd name="adj" fmla="val 7692"/>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9" name="Text 7"/>
          <p:cNvSpPr/>
          <p:nvPr/>
        </p:nvSpPr>
        <p:spPr>
          <a:xfrm>
            <a:off x="658368" y="1874520"/>
            <a:ext cx="1737360" cy="713232"/>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 Upload / URL</a:t>
            </a:r>
            <a:endParaRPr lang="en-US" sz="900" dirty="0"/>
          </a:p>
        </p:txBody>
      </p:sp>
      <p:sp>
        <p:nvSpPr>
          <p:cNvPr id="10" name="Shape 8"/>
          <p:cNvSpPr/>
          <p:nvPr/>
        </p:nvSpPr>
        <p:spPr>
          <a:xfrm>
            <a:off x="2400300" y="2231136"/>
            <a:ext cx="109728" cy="0"/>
          </a:xfrm>
          <a:prstGeom prst="line">
            <a:avLst/>
          </a:prstGeom>
          <a:noFill/>
          <a:ln w="22225">
            <a:solidFill>
              <a:srgbClr val="12B5CB"/>
            </a:solidFill>
            <a:prstDash val="solid"/>
            <a:tailEnd type="triangle"/>
          </a:ln>
        </p:spPr>
      </p:sp>
      <p:sp>
        <p:nvSpPr>
          <p:cNvPr id="11" name="Shape 9"/>
          <p:cNvSpPr/>
          <p:nvPr/>
        </p:nvSpPr>
        <p:spPr>
          <a:xfrm>
            <a:off x="2514600" y="1874520"/>
            <a:ext cx="1737360" cy="713232"/>
          </a:xfrm>
          <a:prstGeom prst="roundRect">
            <a:avLst>
              <a:gd name="adj" fmla="val 7692"/>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2" name="Text 10"/>
          <p:cNvSpPr/>
          <p:nvPr/>
        </p:nvSpPr>
        <p:spPr>
          <a:xfrm>
            <a:off x="2514600" y="1874520"/>
            <a:ext cx="1737360" cy="713232"/>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Processing</a:t>
            </a:r>
            <a:endParaRPr lang="en-US" sz="900" dirty="0"/>
          </a:p>
        </p:txBody>
      </p:sp>
      <p:sp>
        <p:nvSpPr>
          <p:cNvPr id="13" name="Shape 11"/>
          <p:cNvSpPr/>
          <p:nvPr/>
        </p:nvSpPr>
        <p:spPr>
          <a:xfrm>
            <a:off x="4256532" y="2231136"/>
            <a:ext cx="109728" cy="0"/>
          </a:xfrm>
          <a:prstGeom prst="line">
            <a:avLst/>
          </a:prstGeom>
          <a:noFill/>
          <a:ln w="22225">
            <a:solidFill>
              <a:srgbClr val="12B5CB"/>
            </a:solidFill>
            <a:prstDash val="solid"/>
            <a:tailEnd type="triangle"/>
          </a:ln>
        </p:spPr>
      </p:sp>
      <p:sp>
        <p:nvSpPr>
          <p:cNvPr id="14" name="Shape 12"/>
          <p:cNvSpPr/>
          <p:nvPr/>
        </p:nvSpPr>
        <p:spPr>
          <a:xfrm>
            <a:off x="4370832" y="1874520"/>
            <a:ext cx="1737360" cy="713232"/>
          </a:xfrm>
          <a:prstGeom prst="roundRect">
            <a:avLst>
              <a:gd name="adj" fmla="val 7692"/>
            </a:avLst>
          </a:prstGeom>
          <a:solidFill>
            <a:srgbClr val="0B1F3A"/>
          </a:solidFill>
          <a:ln w="12700">
            <a:solidFill>
              <a:srgbClr val="0B1F3A"/>
            </a:solidFill>
            <a:prstDash val="solid"/>
          </a:ln>
          <a:effectLst>
            <a:outerShdw sx="100000" sy="100000" kx="0" ky="0" algn="bl" rotWithShape="0" blurRad="114300" dist="38100" dir="5400000">
              <a:srgbClr val="8DA0C0">
                <a:alpha val="45000"/>
              </a:srgbClr>
            </a:outerShdw>
          </a:effectLst>
        </p:spPr>
      </p:sp>
      <p:sp>
        <p:nvSpPr>
          <p:cNvPr id="15" name="Text 13"/>
          <p:cNvSpPr/>
          <p:nvPr/>
        </p:nvSpPr>
        <p:spPr>
          <a:xfrm>
            <a:off x="4370832" y="1874520"/>
            <a:ext cx="1737360" cy="71323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Results</a:t>
            </a:r>
            <a:endParaRPr lang="en-US" sz="900" dirty="0"/>
          </a:p>
        </p:txBody>
      </p:sp>
      <p:sp>
        <p:nvSpPr>
          <p:cNvPr id="16" name="Shape 14"/>
          <p:cNvSpPr/>
          <p:nvPr/>
        </p:nvSpPr>
        <p:spPr>
          <a:xfrm>
            <a:off x="6112764" y="2231136"/>
            <a:ext cx="109728" cy="0"/>
          </a:xfrm>
          <a:prstGeom prst="line">
            <a:avLst/>
          </a:prstGeom>
          <a:noFill/>
          <a:ln w="22225">
            <a:solidFill>
              <a:srgbClr val="12B5CB"/>
            </a:solidFill>
            <a:prstDash val="solid"/>
            <a:tailEnd type="triangle"/>
          </a:ln>
        </p:spPr>
      </p:sp>
      <p:sp>
        <p:nvSpPr>
          <p:cNvPr id="17" name="Shape 15"/>
          <p:cNvSpPr/>
          <p:nvPr/>
        </p:nvSpPr>
        <p:spPr>
          <a:xfrm>
            <a:off x="6227064" y="1874520"/>
            <a:ext cx="1737360" cy="713232"/>
          </a:xfrm>
          <a:prstGeom prst="roundRect">
            <a:avLst>
              <a:gd name="adj" fmla="val 7692"/>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8" name="Text 16"/>
          <p:cNvSpPr/>
          <p:nvPr/>
        </p:nvSpPr>
        <p:spPr>
          <a:xfrm>
            <a:off x="6227064" y="1874520"/>
            <a:ext cx="1737360" cy="713232"/>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Evidence</a:t>
            </a:r>
            <a:endParaRPr lang="en-US" sz="900" dirty="0"/>
          </a:p>
        </p:txBody>
      </p:sp>
      <p:sp>
        <p:nvSpPr>
          <p:cNvPr id="19" name="Shape 17"/>
          <p:cNvSpPr/>
          <p:nvPr/>
        </p:nvSpPr>
        <p:spPr>
          <a:xfrm>
            <a:off x="7968996" y="2231136"/>
            <a:ext cx="109728" cy="0"/>
          </a:xfrm>
          <a:prstGeom prst="line">
            <a:avLst/>
          </a:prstGeom>
          <a:noFill/>
          <a:ln w="22225">
            <a:solidFill>
              <a:srgbClr val="12B5CB"/>
            </a:solidFill>
            <a:prstDash val="solid"/>
            <a:tailEnd type="triangle"/>
          </a:ln>
        </p:spPr>
      </p:sp>
      <p:sp>
        <p:nvSpPr>
          <p:cNvPr id="20" name="Shape 18"/>
          <p:cNvSpPr/>
          <p:nvPr/>
        </p:nvSpPr>
        <p:spPr>
          <a:xfrm>
            <a:off x="8083296" y="1874520"/>
            <a:ext cx="1737360" cy="713232"/>
          </a:xfrm>
          <a:prstGeom prst="roundRect">
            <a:avLst>
              <a:gd name="adj" fmla="val 7692"/>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1" name="Text 19"/>
          <p:cNvSpPr/>
          <p:nvPr/>
        </p:nvSpPr>
        <p:spPr>
          <a:xfrm>
            <a:off x="8083296" y="1874520"/>
            <a:ext cx="1737360" cy="713232"/>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Provenance</a:t>
            </a:r>
            <a:endParaRPr lang="en-US" sz="900" dirty="0"/>
          </a:p>
        </p:txBody>
      </p:sp>
      <p:sp>
        <p:nvSpPr>
          <p:cNvPr id="22" name="Shape 20"/>
          <p:cNvSpPr/>
          <p:nvPr/>
        </p:nvSpPr>
        <p:spPr>
          <a:xfrm>
            <a:off x="9825228" y="2231136"/>
            <a:ext cx="109728" cy="0"/>
          </a:xfrm>
          <a:prstGeom prst="line">
            <a:avLst/>
          </a:prstGeom>
          <a:noFill/>
          <a:ln w="22225">
            <a:solidFill>
              <a:srgbClr val="12B5CB"/>
            </a:solidFill>
            <a:prstDash val="solid"/>
            <a:tailEnd type="triangle"/>
          </a:ln>
        </p:spPr>
      </p:sp>
      <p:sp>
        <p:nvSpPr>
          <p:cNvPr id="23" name="Shape 21"/>
          <p:cNvSpPr/>
          <p:nvPr/>
        </p:nvSpPr>
        <p:spPr>
          <a:xfrm>
            <a:off x="9939528" y="1874520"/>
            <a:ext cx="1737360" cy="713232"/>
          </a:xfrm>
          <a:prstGeom prst="roundRect">
            <a:avLst>
              <a:gd name="adj" fmla="val 7692"/>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4" name="Text 22"/>
          <p:cNvSpPr/>
          <p:nvPr/>
        </p:nvSpPr>
        <p:spPr>
          <a:xfrm>
            <a:off x="9939528" y="1874520"/>
            <a:ext cx="1737360" cy="713232"/>
          </a:xfrm>
          <a:prstGeom prst="rect">
            <a:avLst/>
          </a:prstGeom>
          <a:noFill/>
          <a:ln/>
        </p:spPr>
        <p:txBody>
          <a:bodyPr wrap="square" lIns="0" tIns="0" rIns="0" bIns="0" rtlCol="0" anchor="ctr"/>
          <a:lstStyle/>
          <a:p>
            <a:pPr algn="ctr" indent="0" marL="0">
              <a:buNone/>
            </a:pPr>
            <a:r>
              <a:rPr lang="en-US" sz="900" b="1" dirty="0">
                <a:solidFill>
                  <a:srgbClr val="0B1F3A"/>
                </a:solidFill>
                <a:latin typeface="Courier New" pitchFamily="34" charset="0"/>
                <a:ea typeface="Courier New" pitchFamily="34" charset="-122"/>
                <a:cs typeface="Courier New" pitchFamily="34" charset="-120"/>
              </a:rPr>
              <a:t>Report</a:t>
            </a:r>
            <a:endParaRPr lang="en-US" sz="900" dirty="0"/>
          </a:p>
        </p:txBody>
      </p:sp>
      <p:sp>
        <p:nvSpPr>
          <p:cNvPr id="25" name="Shape 23"/>
          <p:cNvSpPr/>
          <p:nvPr/>
        </p:nvSpPr>
        <p:spPr>
          <a:xfrm>
            <a:off x="3977640" y="3200400"/>
            <a:ext cx="2194560" cy="640080"/>
          </a:xfrm>
          <a:prstGeom prst="roundRect">
            <a:avLst>
              <a:gd name="adj" fmla="val 8571"/>
            </a:avLst>
          </a:prstGeom>
          <a:solidFill>
            <a:srgbClr val="FFFFFF"/>
          </a:solidFill>
          <a:ln w="19050">
            <a:solidFill>
              <a:srgbClr val="D98A2B"/>
            </a:solidFill>
            <a:prstDash val="solid"/>
          </a:ln>
        </p:spPr>
      </p:sp>
      <p:sp>
        <p:nvSpPr>
          <p:cNvPr id="26" name="Text 24"/>
          <p:cNvSpPr/>
          <p:nvPr/>
        </p:nvSpPr>
        <p:spPr>
          <a:xfrm>
            <a:off x="3977640" y="3200400"/>
            <a:ext cx="2194560" cy="640080"/>
          </a:xfrm>
          <a:prstGeom prst="rect">
            <a:avLst/>
          </a:prstGeom>
          <a:noFill/>
          <a:ln/>
        </p:spPr>
        <p:txBody>
          <a:bodyPr wrap="square" lIns="0" tIns="0" rIns="0" bIns="0" rtlCol="0" anchor="ctr"/>
          <a:lstStyle/>
          <a:p>
            <a:pPr algn="ctr" indent="0" marL="0">
              <a:buNone/>
            </a:pPr>
            <a:r>
              <a:rPr lang="en-US" sz="950" b="1" dirty="0">
                <a:solidFill>
                  <a:srgbClr val="D98A2B"/>
                </a:solidFill>
                <a:latin typeface="Courier New" pitchFamily="34" charset="0"/>
                <a:ea typeface="Courier New" pitchFamily="34" charset="-122"/>
                <a:cs typeface="Courier New" pitchFamily="34" charset="-120"/>
              </a:rPr>
              <a:t>Human Review</a:t>
            </a:r>
            <a:endParaRPr lang="en-US" sz="950" dirty="0"/>
          </a:p>
        </p:txBody>
      </p:sp>
      <p:sp>
        <p:nvSpPr>
          <p:cNvPr id="27" name="Shape 25"/>
          <p:cNvSpPr/>
          <p:nvPr/>
        </p:nvSpPr>
        <p:spPr>
          <a:xfrm>
            <a:off x="5074920" y="2606040"/>
            <a:ext cx="0" cy="576072"/>
          </a:xfrm>
          <a:prstGeom prst="line">
            <a:avLst/>
          </a:prstGeom>
          <a:noFill/>
          <a:ln w="22225">
            <a:solidFill>
              <a:srgbClr val="D98A2B"/>
            </a:solidFill>
            <a:prstDash val="solid"/>
            <a:tailEnd type="triangle"/>
          </a:ln>
        </p:spPr>
      </p:sp>
      <p:sp>
        <p:nvSpPr>
          <p:cNvPr id="28" name="Text 26"/>
          <p:cNvSpPr/>
          <p:nvPr/>
        </p:nvSpPr>
        <p:spPr>
          <a:xfrm>
            <a:off x="6446520" y="3291840"/>
            <a:ext cx="5120640" cy="502920"/>
          </a:xfrm>
          <a:prstGeom prst="rect">
            <a:avLst/>
          </a:prstGeom>
          <a:noFill/>
          <a:ln/>
        </p:spPr>
        <p:txBody>
          <a:bodyPr wrap="square" lIns="0" tIns="0" rIns="0" bIns="0" rtlCol="0" anchor="ctr"/>
          <a:lstStyle/>
          <a:p>
            <a:pPr indent="0" marL="0">
              <a:buNone/>
            </a:pPr>
            <a:r>
              <a:rPr lang="en-US" sz="1000" i="1" dirty="0">
                <a:solidFill>
                  <a:srgbClr val="6B7A99"/>
                </a:solidFill>
                <a:latin typeface="Calibri" pitchFamily="34" charset="0"/>
                <a:ea typeface="Calibri" pitchFamily="34" charset="-122"/>
                <a:cs typeface="Calibri" pitchFamily="34" charset="-120"/>
              </a:rPr>
              <a:t>reviewer override propagates onto the parent case verdict</a:t>
            </a:r>
            <a:endParaRPr lang="en-US" sz="1000" dirty="0"/>
          </a:p>
        </p:txBody>
      </p:sp>
      <p:sp>
        <p:nvSpPr>
          <p:cNvPr id="29" name="Text 27"/>
          <p:cNvSpPr/>
          <p:nvPr/>
        </p:nvSpPr>
        <p:spPr>
          <a:xfrm>
            <a:off x="658368" y="4297680"/>
            <a:ext cx="11064240" cy="210312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~18 endpoints: auth · analyze · cases · reviews · reports · stats · keys · health</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helmet · CORS origin allowlist · global + per-route rate limits · zod on every body</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Multer in-memory uploads capped at MAX_UPLOAD_MB (default 50) + mime allowlist</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analyze and every mutation require a Bearer token; read paths use optional auth</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Store interface: MemoryStore by default, PgStore when DATABASE_URL is set</a:t>
            </a:r>
            <a:endParaRPr lang="en-US" sz="1200" dirty="0"/>
          </a:p>
        </p:txBody>
      </p:sp>
      <p:sp>
        <p:nvSpPr>
          <p:cNvPr id="30" name="Text 28"/>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31" name="Text 29"/>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06 · TECHNICAL ARCHITECTURE</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Stack &amp; data layer</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58368" y="1664208"/>
            <a:ext cx="7315200" cy="621792"/>
          </a:xfrm>
          <a:prstGeom prst="roundRect">
            <a:avLst>
              <a:gd name="adj" fmla="val 7353"/>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9" name="Text 7"/>
          <p:cNvSpPr/>
          <p:nvPr/>
        </p:nvSpPr>
        <p:spPr>
          <a:xfrm>
            <a:off x="868680" y="1664208"/>
            <a:ext cx="6903720" cy="621792"/>
          </a:xfrm>
          <a:prstGeom prst="rect">
            <a:avLst/>
          </a:prstGeom>
          <a:noFill/>
          <a:ln/>
        </p:spPr>
        <p:txBody>
          <a:bodyPr wrap="square" lIns="0" tIns="0" rIns="0" bIns="0" rtlCol="0" anchor="ctr"/>
          <a:lstStyle/>
          <a:p>
            <a:pPr indent="0" marL="0">
              <a:lnSpc>
                <a:spcPct val="102000"/>
              </a:lnSpc>
              <a:buNone/>
            </a:pPr>
            <a:r>
              <a:rPr lang="en-US" sz="1050" b="1" dirty="0">
                <a:solidFill>
                  <a:srgbClr val="0B1F3A"/>
                </a:solidFill>
                <a:latin typeface="Calibri" pitchFamily="34" charset="0"/>
                <a:ea typeface="Calibri" pitchFamily="34" charset="-122"/>
                <a:cs typeface="Calibri" pitchFamily="34" charset="-120"/>
              </a:rPr>
              <a:t>React SPA — 17 pages, server-authoritative
</a:t>
            </a:r>
            <a:endParaRPr lang="en-US" sz="1050" dirty="0"/>
          </a:p>
          <a:p>
            <a:pPr indent="0" marL="0">
              <a:lnSpc>
                <a:spcPct val="102000"/>
              </a:lnSpc>
              <a:buNone/>
            </a:pPr>
            <a:r>
              <a:rPr lang="en-US" sz="800" dirty="0">
                <a:solidFill>
                  <a:srgbClr val="6B7A99"/>
                </a:solidFill>
                <a:latin typeface="Calibri" pitchFamily="34" charset="0"/>
                <a:ea typeface="Calibri" pitchFamily="34" charset="-122"/>
                <a:cs typeface="Calibri" pitchFamily="34" charset="-120"/>
              </a:rPr>
              <a:t>Vite 5 dev :3000  ·  Bearer token  ·  slim offline fallback on read views only</a:t>
            </a:r>
            <a:endParaRPr lang="en-US" sz="1050" dirty="0"/>
          </a:p>
        </p:txBody>
      </p:sp>
      <p:sp>
        <p:nvSpPr>
          <p:cNvPr id="10" name="Shape 8"/>
          <p:cNvSpPr/>
          <p:nvPr/>
        </p:nvSpPr>
        <p:spPr>
          <a:xfrm>
            <a:off x="4315968" y="2295144"/>
            <a:ext cx="0" cy="91440"/>
          </a:xfrm>
          <a:prstGeom prst="line">
            <a:avLst/>
          </a:prstGeom>
          <a:noFill/>
          <a:ln w="22225">
            <a:solidFill>
              <a:srgbClr val="12B5CB"/>
            </a:solidFill>
            <a:prstDash val="solid"/>
            <a:tailEnd type="triangle"/>
          </a:ln>
        </p:spPr>
      </p:sp>
      <p:sp>
        <p:nvSpPr>
          <p:cNvPr id="11" name="Shape 9"/>
          <p:cNvSpPr/>
          <p:nvPr/>
        </p:nvSpPr>
        <p:spPr>
          <a:xfrm>
            <a:off x="658368" y="2395728"/>
            <a:ext cx="7315200" cy="621792"/>
          </a:xfrm>
          <a:prstGeom prst="roundRect">
            <a:avLst>
              <a:gd name="adj" fmla="val 7353"/>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2" name="Text 10"/>
          <p:cNvSpPr/>
          <p:nvPr/>
        </p:nvSpPr>
        <p:spPr>
          <a:xfrm>
            <a:off x="868680" y="2395728"/>
            <a:ext cx="6903720" cy="621792"/>
          </a:xfrm>
          <a:prstGeom prst="rect">
            <a:avLst/>
          </a:prstGeom>
          <a:noFill/>
          <a:ln/>
        </p:spPr>
        <p:txBody>
          <a:bodyPr wrap="square" lIns="0" tIns="0" rIns="0" bIns="0" rtlCol="0" anchor="ctr"/>
          <a:lstStyle/>
          <a:p>
            <a:pPr indent="0" marL="0">
              <a:lnSpc>
                <a:spcPct val="102000"/>
              </a:lnSpc>
              <a:buNone/>
            </a:pPr>
            <a:r>
              <a:rPr lang="en-US" sz="1050" b="1" dirty="0">
                <a:solidFill>
                  <a:srgbClr val="0B1F3A"/>
                </a:solidFill>
                <a:latin typeface="Calibri" pitchFamily="34" charset="0"/>
                <a:ea typeface="Calibri" pitchFamily="34" charset="-122"/>
                <a:cs typeface="Calibri" pitchFamily="34" charset="-120"/>
              </a:rPr>
              <a:t>Express REST API  :5000
</a:t>
            </a:r>
            <a:endParaRPr lang="en-US" sz="1050" dirty="0"/>
          </a:p>
          <a:p>
            <a:pPr indent="0" marL="0">
              <a:lnSpc>
                <a:spcPct val="102000"/>
              </a:lnSpc>
              <a:buNone/>
            </a:pPr>
            <a:r>
              <a:rPr lang="en-US" sz="800" dirty="0">
                <a:solidFill>
                  <a:srgbClr val="6B7A99"/>
                </a:solidFill>
                <a:latin typeface="Calibri" pitchFamily="34" charset="0"/>
                <a:ea typeface="Calibri" pitchFamily="34" charset="-122"/>
                <a:cs typeface="Calibri" pitchFamily="34" charset="-120"/>
              </a:rPr>
              <a:t>helmet · rate-limit · zod · jsonwebtoken · bcryptjs  ·  x-powered-by off</a:t>
            </a:r>
            <a:endParaRPr lang="en-US" sz="1050" dirty="0"/>
          </a:p>
        </p:txBody>
      </p:sp>
      <p:sp>
        <p:nvSpPr>
          <p:cNvPr id="13" name="Shape 11"/>
          <p:cNvSpPr/>
          <p:nvPr/>
        </p:nvSpPr>
        <p:spPr>
          <a:xfrm>
            <a:off x="4315968" y="3026664"/>
            <a:ext cx="0" cy="91440"/>
          </a:xfrm>
          <a:prstGeom prst="line">
            <a:avLst/>
          </a:prstGeom>
          <a:noFill/>
          <a:ln w="22225">
            <a:solidFill>
              <a:srgbClr val="12B5CB"/>
            </a:solidFill>
            <a:prstDash val="solid"/>
            <a:tailEnd type="triangle"/>
          </a:ln>
        </p:spPr>
      </p:sp>
      <p:sp>
        <p:nvSpPr>
          <p:cNvPr id="14" name="Shape 12"/>
          <p:cNvSpPr/>
          <p:nvPr/>
        </p:nvSpPr>
        <p:spPr>
          <a:xfrm>
            <a:off x="658368" y="3127248"/>
            <a:ext cx="7315200" cy="621792"/>
          </a:xfrm>
          <a:prstGeom prst="roundRect">
            <a:avLst>
              <a:gd name="adj" fmla="val 7353"/>
            </a:avLst>
          </a:prstGeom>
          <a:solidFill>
            <a:srgbClr val="E8FBFD"/>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5" name="Text 13"/>
          <p:cNvSpPr/>
          <p:nvPr/>
        </p:nvSpPr>
        <p:spPr>
          <a:xfrm>
            <a:off x="868680" y="3127248"/>
            <a:ext cx="6903720" cy="621792"/>
          </a:xfrm>
          <a:prstGeom prst="rect">
            <a:avLst/>
          </a:prstGeom>
          <a:noFill/>
          <a:ln/>
        </p:spPr>
        <p:txBody>
          <a:bodyPr wrap="square" lIns="0" tIns="0" rIns="0" bIns="0" rtlCol="0" anchor="ctr"/>
          <a:lstStyle/>
          <a:p>
            <a:pPr indent="0" marL="0">
              <a:lnSpc>
                <a:spcPct val="102000"/>
              </a:lnSpc>
              <a:buNone/>
            </a:pPr>
            <a:r>
              <a:rPr lang="en-US" sz="1050" b="1" dirty="0">
                <a:solidFill>
                  <a:srgbClr val="0B1F3A"/>
                </a:solidFill>
                <a:latin typeface="Calibri" pitchFamily="34" charset="0"/>
                <a:ea typeface="Calibri" pitchFamily="34" charset="-122"/>
                <a:cs typeface="Calibri" pitchFamily="34" charset="-120"/>
              </a:rPr>
              <a:t>Forensic engine
</a:t>
            </a:r>
            <a:endParaRPr lang="en-US" sz="1050" dirty="0"/>
          </a:p>
          <a:p>
            <a:pPr indent="0" marL="0">
              <a:lnSpc>
                <a:spcPct val="102000"/>
              </a:lnSpc>
              <a:buNone/>
            </a:pPr>
            <a:r>
              <a:rPr lang="en-US" sz="800" dirty="0">
                <a:solidFill>
                  <a:srgbClr val="6B7A99"/>
                </a:solidFill>
                <a:latin typeface="Calibri" pitchFamily="34" charset="0"/>
                <a:ea typeface="Calibri" pitchFamily="34" charset="-122"/>
                <a:cs typeface="Calibri" pitchFamily="34" charset="-120"/>
              </a:rPr>
              <a:t>sharp (ELA) + exifr (EXIF) + C2PA probe  ·  no PyTorch / ONNX in Node</a:t>
            </a:r>
            <a:endParaRPr lang="en-US" sz="1050" dirty="0"/>
          </a:p>
        </p:txBody>
      </p:sp>
      <p:sp>
        <p:nvSpPr>
          <p:cNvPr id="16" name="Shape 14"/>
          <p:cNvSpPr/>
          <p:nvPr/>
        </p:nvSpPr>
        <p:spPr>
          <a:xfrm>
            <a:off x="4315968" y="3758184"/>
            <a:ext cx="0" cy="91440"/>
          </a:xfrm>
          <a:prstGeom prst="line">
            <a:avLst/>
          </a:prstGeom>
          <a:noFill/>
          <a:ln w="22225">
            <a:solidFill>
              <a:srgbClr val="12B5CB"/>
            </a:solidFill>
            <a:prstDash val="solid"/>
            <a:tailEnd type="triangle"/>
          </a:ln>
        </p:spPr>
      </p:sp>
      <p:sp>
        <p:nvSpPr>
          <p:cNvPr id="17" name="Shape 15"/>
          <p:cNvSpPr/>
          <p:nvPr/>
        </p:nvSpPr>
        <p:spPr>
          <a:xfrm>
            <a:off x="658368" y="3858768"/>
            <a:ext cx="7315200" cy="621792"/>
          </a:xfrm>
          <a:prstGeom prst="roundRect">
            <a:avLst>
              <a:gd name="adj" fmla="val 7353"/>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8" name="Text 16"/>
          <p:cNvSpPr/>
          <p:nvPr/>
        </p:nvSpPr>
        <p:spPr>
          <a:xfrm>
            <a:off x="868680" y="3858768"/>
            <a:ext cx="6903720" cy="621792"/>
          </a:xfrm>
          <a:prstGeom prst="rect">
            <a:avLst/>
          </a:prstGeom>
          <a:noFill/>
          <a:ln/>
        </p:spPr>
        <p:txBody>
          <a:bodyPr wrap="square" lIns="0" tIns="0" rIns="0" bIns="0" rtlCol="0" anchor="ctr"/>
          <a:lstStyle/>
          <a:p>
            <a:pPr indent="0" marL="0">
              <a:lnSpc>
                <a:spcPct val="102000"/>
              </a:lnSpc>
              <a:buNone/>
            </a:pPr>
            <a:r>
              <a:rPr lang="en-US" sz="1050" b="1" dirty="0">
                <a:solidFill>
                  <a:srgbClr val="2B3A55"/>
                </a:solidFill>
                <a:latin typeface="Calibri" pitchFamily="34" charset="0"/>
                <a:ea typeface="Calibri" pitchFamily="34" charset="-122"/>
                <a:cs typeface="Calibri" pitchFamily="34" charset="-120"/>
              </a:rPr>
              <a:t>Store interface
</a:t>
            </a:r>
            <a:endParaRPr lang="en-US" sz="1050" dirty="0"/>
          </a:p>
          <a:p>
            <a:pPr indent="0" marL="0">
              <a:lnSpc>
                <a:spcPct val="102000"/>
              </a:lnSpc>
              <a:buNone/>
            </a:pPr>
            <a:r>
              <a:rPr lang="en-US" sz="800" dirty="0">
                <a:solidFill>
                  <a:srgbClr val="6B7A99"/>
                </a:solidFill>
                <a:latin typeface="Calibri" pitchFamily="34" charset="0"/>
                <a:ea typeface="Calibri" pitchFamily="34" charset="-122"/>
                <a:cs typeface="Calibri" pitchFamily="34" charset="-120"/>
              </a:rPr>
              <a:t>MemoryStore (default, resets)  |  PgStore when DATABASE_URL set</a:t>
            </a:r>
            <a:endParaRPr lang="en-US" sz="1050" dirty="0"/>
          </a:p>
        </p:txBody>
      </p:sp>
      <p:sp>
        <p:nvSpPr>
          <p:cNvPr id="19" name="Shape 17"/>
          <p:cNvSpPr/>
          <p:nvPr/>
        </p:nvSpPr>
        <p:spPr>
          <a:xfrm>
            <a:off x="658368" y="4590288"/>
            <a:ext cx="7315200" cy="621792"/>
          </a:xfrm>
          <a:prstGeom prst="roundRect">
            <a:avLst>
              <a:gd name="adj" fmla="val 7353"/>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0" name="Text 18"/>
          <p:cNvSpPr/>
          <p:nvPr/>
        </p:nvSpPr>
        <p:spPr>
          <a:xfrm>
            <a:off x="868680" y="4590288"/>
            <a:ext cx="6903720" cy="621792"/>
          </a:xfrm>
          <a:prstGeom prst="rect">
            <a:avLst/>
          </a:prstGeom>
          <a:noFill/>
          <a:ln/>
        </p:spPr>
        <p:txBody>
          <a:bodyPr wrap="square" lIns="0" tIns="0" rIns="0" bIns="0" rtlCol="0" anchor="ctr"/>
          <a:lstStyle/>
          <a:p>
            <a:pPr indent="0" marL="0">
              <a:lnSpc>
                <a:spcPct val="102000"/>
              </a:lnSpc>
              <a:buNone/>
            </a:pPr>
            <a:r>
              <a:rPr lang="en-US" sz="1050" b="1" dirty="0">
                <a:solidFill>
                  <a:srgbClr val="6B7A99"/>
                </a:solidFill>
                <a:latin typeface="Calibri" pitchFamily="34" charset="0"/>
                <a:ea typeface="Calibri" pitchFamily="34" charset="-122"/>
                <a:cs typeface="Calibri" pitchFamily="34" charset="-120"/>
              </a:rPr>
              <a:t>PostgreSQL  ·  schema.sql + migrations
</a:t>
            </a:r>
            <a:endParaRPr lang="en-US" sz="1050" dirty="0"/>
          </a:p>
          <a:p>
            <a:pPr indent="0" marL="0">
              <a:lnSpc>
                <a:spcPct val="102000"/>
              </a:lnSpc>
              <a:buNone/>
            </a:pPr>
            <a:r>
              <a:rPr lang="en-US" sz="800" dirty="0">
                <a:solidFill>
                  <a:srgbClr val="6B7A99"/>
                </a:solidFill>
                <a:latin typeface="Calibri" pitchFamily="34" charset="0"/>
                <a:ea typeface="Calibri" pitchFamily="34" charset="-122"/>
                <a:cs typeface="Calibri" pitchFamily="34" charset="-120"/>
              </a:rPr>
              <a:t>applied by db/migrate.ts, backs PgStore  ·  8 tables</a:t>
            </a:r>
            <a:endParaRPr lang="en-US" sz="1050" dirty="0"/>
          </a:p>
        </p:txBody>
      </p:sp>
      <p:sp>
        <p:nvSpPr>
          <p:cNvPr id="21" name="Shape 19"/>
          <p:cNvSpPr/>
          <p:nvPr/>
        </p:nvSpPr>
        <p:spPr>
          <a:xfrm>
            <a:off x="658368" y="5321808"/>
            <a:ext cx="7315200" cy="621792"/>
          </a:xfrm>
          <a:prstGeom prst="roundRect">
            <a:avLst>
              <a:gd name="adj" fmla="val 7353"/>
            </a:avLst>
          </a:prstGeom>
          <a:solidFill>
            <a:srgbClr val="EEF1F7"/>
          </a:solidFill>
          <a:ln w="15875">
            <a:solidFill>
              <a:srgbClr val="6B7A99"/>
            </a:solidFill>
            <a:prstDash val="dash"/>
          </a:ln>
        </p:spPr>
      </p:sp>
      <p:sp>
        <p:nvSpPr>
          <p:cNvPr id="22" name="Text 20"/>
          <p:cNvSpPr/>
          <p:nvPr/>
        </p:nvSpPr>
        <p:spPr>
          <a:xfrm>
            <a:off x="868680" y="5321808"/>
            <a:ext cx="6903720" cy="621792"/>
          </a:xfrm>
          <a:prstGeom prst="rect">
            <a:avLst/>
          </a:prstGeom>
          <a:noFill/>
          <a:ln/>
        </p:spPr>
        <p:txBody>
          <a:bodyPr wrap="square" lIns="0" tIns="0" rIns="0" bIns="0" rtlCol="0" anchor="ctr"/>
          <a:lstStyle/>
          <a:p>
            <a:pPr indent="0" marL="0">
              <a:lnSpc>
                <a:spcPct val="102000"/>
              </a:lnSpc>
              <a:buNone/>
            </a:pPr>
            <a:r>
              <a:rPr lang="en-US" sz="1050" b="1" dirty="0">
                <a:solidFill>
                  <a:srgbClr val="6B7A99"/>
                </a:solidFill>
                <a:latin typeface="Calibri" pitchFamily="34" charset="0"/>
                <a:ea typeface="Calibri" pitchFamily="34" charset="-122"/>
                <a:cs typeface="Calibri" pitchFamily="34" charset="-120"/>
              </a:rPr>
              <a:t>FastAPI ai-engine  :8000
</a:t>
            </a:r>
            <a:endParaRPr lang="en-US" sz="1050" dirty="0"/>
          </a:p>
          <a:p>
            <a:pPr indent="0" marL="0">
              <a:lnSpc>
                <a:spcPct val="102000"/>
              </a:lnSpc>
              <a:buNone/>
            </a:pPr>
            <a:r>
              <a:rPr lang="en-US" sz="800" dirty="0">
                <a:solidFill>
                  <a:srgbClr val="6B7A99"/>
                </a:solidFill>
                <a:latin typeface="Calibri" pitchFamily="34" charset="0"/>
                <a:ea typeface="Calibri" pitchFamily="34" charset="-122"/>
                <a:cs typeface="Calibri" pitchFamily="34" charset="-120"/>
              </a:rPr>
              <a:t>freq-heuristic-v1 today  ·  trained torch/timm backend = MODEL_WEIGHTS drop-in</a:t>
            </a:r>
            <a:endParaRPr lang="en-US" sz="1050" dirty="0"/>
          </a:p>
        </p:txBody>
      </p:sp>
      <p:sp>
        <p:nvSpPr>
          <p:cNvPr id="23" name="Shape 21"/>
          <p:cNvSpPr/>
          <p:nvPr/>
        </p:nvSpPr>
        <p:spPr>
          <a:xfrm>
            <a:off x="8275320" y="1664208"/>
            <a:ext cx="3474720" cy="3566160"/>
          </a:xfrm>
          <a:prstGeom prst="roundRect">
            <a:avLst>
              <a:gd name="adj" fmla="val 1447"/>
            </a:avLst>
          </a:prstGeom>
          <a:solidFill>
            <a:srgbClr val="0B1F3A"/>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4" name="Text 22"/>
          <p:cNvSpPr/>
          <p:nvPr/>
        </p:nvSpPr>
        <p:spPr>
          <a:xfrm>
            <a:off x="8503920" y="1828800"/>
            <a:ext cx="3017520" cy="274320"/>
          </a:xfrm>
          <a:prstGeom prst="rect">
            <a:avLst/>
          </a:prstGeom>
          <a:noFill/>
          <a:ln/>
        </p:spPr>
        <p:txBody>
          <a:bodyPr wrap="square" lIns="0" tIns="0" rIns="0" bIns="0" rtlCol="0" anchor="ctr"/>
          <a:lstStyle/>
          <a:p>
            <a:pPr indent="0" marL="0">
              <a:buNone/>
            </a:pPr>
            <a:r>
              <a:rPr lang="en-US" sz="1000" b="1" dirty="0">
                <a:solidFill>
                  <a:srgbClr val="12B5CB"/>
                </a:solidFill>
                <a:latin typeface="Courier New" pitchFamily="34" charset="0"/>
                <a:ea typeface="Courier New" pitchFamily="34" charset="-122"/>
                <a:cs typeface="Courier New" pitchFamily="34" charset="-120"/>
              </a:rPr>
              <a:t>READ THIS AS</a:t>
            </a:r>
            <a:endParaRPr lang="en-US" sz="1000" dirty="0"/>
          </a:p>
        </p:txBody>
      </p:sp>
      <p:sp>
        <p:nvSpPr>
          <p:cNvPr id="25" name="Text 23"/>
          <p:cNvSpPr/>
          <p:nvPr/>
        </p:nvSpPr>
        <p:spPr>
          <a:xfrm>
            <a:off x="8503920" y="2194560"/>
            <a:ext cx="3063240" cy="2834640"/>
          </a:xfrm>
          <a:prstGeom prst="rect">
            <a:avLst/>
          </a:prstGeom>
          <a:noFill/>
          <a:ln/>
        </p:spPr>
        <p:txBody>
          <a:bodyPr wrap="square" lIns="0" tIns="0" rIns="0" bIns="0" rtlCol="0" anchor="ctr"/>
          <a:lstStyle/>
          <a:p>
            <a:pPr indent="0" marL="0">
              <a:lnSpc>
                <a:spcPct val="112000"/>
              </a:lnSpc>
              <a:buNone/>
            </a:pPr>
            <a:r>
              <a:rPr lang="en-US" sz="1150" dirty="0">
                <a:solidFill>
                  <a:srgbClr val="FFFFFF"/>
                </a:solidFill>
                <a:latin typeface="Calibri" pitchFamily="34" charset="0"/>
                <a:ea typeface="Calibri" pitchFamily="34" charset="-122"/>
                <a:cs typeface="Calibri" pitchFamily="34" charset="-120"/>
              </a:rPr>
              <a:t>The product surface, forensic engine and data layer are real.
</a:t>
            </a:r>
            <a:endParaRPr lang="en-US" sz="1150" dirty="0"/>
          </a:p>
          <a:p>
            <a:pPr indent="0" marL="0">
              <a:lnSpc>
                <a:spcPct val="112000"/>
              </a:lnSpc>
              <a:buNone/>
            </a:pPr>
            <a:r>
              <a:rPr lang="en-US" sz="1150" dirty="0">
                <a:solidFill>
                  <a:srgbClr val="FFFFFF"/>
                </a:solidFill>
                <a:latin typeface="Calibri" pitchFamily="34" charset="0"/>
                <a:ea typeface="Calibri" pitchFamily="34" charset="-122"/>
                <a:cs typeface="Calibri" pitchFamily="34" charset="-120"/>
              </a:rPr>
              <a:t>Still genuinely absent: ffmpeg, and any trained model weights.</a:t>
            </a:r>
            <a:endParaRPr lang="en-US" sz="1150" dirty="0"/>
          </a:p>
        </p:txBody>
      </p:sp>
      <p:sp>
        <p:nvSpPr>
          <p:cNvPr id="26" name="Text 24"/>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27" name="Text 25"/>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07 · TECHNICAL ARCHITECTURE</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The model seam &amp; inference service</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Text 6"/>
          <p:cNvSpPr/>
          <p:nvPr/>
        </p:nvSpPr>
        <p:spPr>
          <a:xfrm>
            <a:off x="658368" y="1737360"/>
            <a:ext cx="5806440" cy="41148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services/analysisEngine/index.ts build() switches on ANALYZER</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ForensicMediaAnalyzer default — ELA, noise stats, EXIF, C2PA byte-marker probe</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C2PA: optional c2pa-node does crypto verify; default is a JUMBF marker scan</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PyTorchMediaAnalyzer built — POSTs to FastAPI, falls back to forensic on failure</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FastAPI ai-engine runs today: freq-heuristic-v1, a 2-D power-spectrum check</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Trained torch/timm backend is a MODEL_WEIGHTS drop-in — no weights in repo</a:t>
            </a:r>
            <a:endParaRPr lang="en-US" sz="1200" dirty="0"/>
          </a:p>
        </p:txBody>
      </p:sp>
      <p:sp>
        <p:nvSpPr>
          <p:cNvPr id="9" name="Shape 7"/>
          <p:cNvSpPr/>
          <p:nvPr/>
        </p:nvSpPr>
        <p:spPr>
          <a:xfrm>
            <a:off x="6665976" y="2139696"/>
            <a:ext cx="5184648" cy="2559801"/>
          </a:xfrm>
          <a:prstGeom prst="roundRect">
            <a:avLst>
              <a:gd name="adj" fmla="val 1429"/>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pic>
        <p:nvPicPr>
          <p:cNvPr id="10" name="Image 0" descr="E:\Hackathons\Omnikon National Hackathon 2026\phase2\screenshots\11-forensic-results.jpg">    </p:cNvPr>
          <p:cNvPicPr>
            <a:picLocks noChangeAspect="1"/>
          </p:cNvPicPr>
          <p:nvPr/>
        </p:nvPicPr>
        <p:blipFill>
          <a:blip r:embed="rId1"/>
          <a:stretch>
            <a:fillRect/>
          </a:stretch>
        </p:blipFill>
        <p:spPr>
          <a:xfrm>
            <a:off x="6720840" y="2194560"/>
            <a:ext cx="5074920" cy="2450073"/>
          </a:xfrm>
          <a:prstGeom prst="rect">
            <a:avLst/>
          </a:prstGeom>
        </p:spPr>
      </p:pic>
      <p:sp>
        <p:nvSpPr>
          <p:cNvPr id="11" name="Text 8"/>
          <p:cNvSpPr/>
          <p:nvPr/>
        </p:nvSpPr>
        <p:spPr>
          <a:xfrm>
            <a:off x="6720840" y="4717785"/>
            <a:ext cx="5074920" cy="274320"/>
          </a:xfrm>
          <a:prstGeom prst="rect">
            <a:avLst/>
          </a:prstGeom>
          <a:noFill/>
          <a:ln/>
        </p:spPr>
        <p:txBody>
          <a:bodyPr wrap="square" lIns="0" tIns="0" rIns="0" bIns="0" rtlCol="0" anchor="ctr"/>
          <a:lstStyle/>
          <a:p>
            <a:pPr algn="ctr" indent="0" marL="0">
              <a:buNone/>
            </a:pPr>
            <a:r>
              <a:rPr lang="en-US" sz="850" dirty="0">
                <a:solidFill>
                  <a:srgbClr val="6B7A99"/>
                </a:solidFill>
                <a:latin typeface="Courier New" pitchFamily="34" charset="0"/>
                <a:ea typeface="Courier New" pitchFamily="34" charset="-122"/>
                <a:cs typeface="Courier New" pitchFamily="34" charset="-120"/>
              </a:rPr>
              <a:t>Live forensic verdict — engine tag "forensic-v1-noml", C2PA UNVERIFIED</a:t>
            </a:r>
            <a:endParaRPr lang="en-US" sz="850" dirty="0"/>
          </a:p>
        </p:txBody>
      </p:sp>
      <p:sp>
        <p:nvSpPr>
          <p:cNvPr id="12" name="Text 9"/>
          <p:cNvSpPr/>
          <p:nvPr/>
        </p:nvSpPr>
        <p:spPr>
          <a:xfrm>
            <a:off x="6720840" y="5394960"/>
            <a:ext cx="5074920" cy="365760"/>
          </a:xfrm>
          <a:prstGeom prst="rect">
            <a:avLst/>
          </a:prstGeom>
          <a:noFill/>
          <a:ln/>
        </p:spPr>
        <p:txBody>
          <a:bodyPr wrap="square" lIns="0" tIns="0" rIns="0" bIns="0" rtlCol="0" anchor="ctr"/>
          <a:lstStyle/>
          <a:p>
            <a:pPr algn="ctr" indent="0" marL="0">
              <a:buNone/>
            </a:pPr>
            <a:r>
              <a:rPr lang="en-US" sz="1000" i="1" dirty="0">
                <a:solidFill>
                  <a:srgbClr val="6B7A99"/>
                </a:solidFill>
                <a:latin typeface="Calibri" pitchFamily="34" charset="0"/>
                <a:ea typeface="Calibri" pitchFamily="34" charset="-122"/>
                <a:cs typeface="Calibri" pitchFamily="34" charset="-120"/>
              </a:rPr>
              <a:t>Every score on this page traces to a computation on the uploaded file.</a:t>
            </a:r>
            <a:endParaRPr lang="en-US" sz="1000" dirty="0"/>
          </a:p>
        </p:txBody>
      </p:sp>
      <p:sp>
        <p:nvSpPr>
          <p:cNvPr id="13" name="Text 10"/>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14" name="Text 11"/>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08 · CHALLENGES FACED</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Build challenges &amp; deliberate trade-offs</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58368" y="1783080"/>
            <a:ext cx="1463040" cy="676656"/>
          </a:xfrm>
          <a:prstGeom prst="roundRect">
            <a:avLst>
              <a:gd name="adj" fmla="val 8108"/>
            </a:avLst>
          </a:prstGeom>
          <a:solidFill>
            <a:srgbClr val="0B1F3A"/>
          </a:solidFill>
          <a:ln/>
        </p:spPr>
      </p:sp>
      <p:sp>
        <p:nvSpPr>
          <p:cNvPr id="9" name="Text 7"/>
          <p:cNvSpPr/>
          <p:nvPr/>
        </p:nvSpPr>
        <p:spPr>
          <a:xfrm>
            <a:off x="658368" y="1783080"/>
            <a:ext cx="1463040" cy="676656"/>
          </a:xfrm>
          <a:prstGeom prst="rect">
            <a:avLst/>
          </a:prstGeom>
          <a:noFill/>
          <a:ln/>
        </p:spPr>
        <p:txBody>
          <a:bodyPr wrap="square" lIns="0" tIns="0" rIns="0" bIns="0" rtlCol="0" anchor="ctr"/>
          <a:lstStyle/>
          <a:p>
            <a:pPr algn="ctr" indent="0" marL="0">
              <a:buNone/>
            </a:pPr>
            <a:r>
              <a:rPr lang="en-US" sz="950" b="1" dirty="0">
                <a:solidFill>
                  <a:srgbClr val="12B5CB"/>
                </a:solidFill>
                <a:latin typeface="Courier New" pitchFamily="34" charset="0"/>
                <a:ea typeface="Courier New" pitchFamily="34" charset="-122"/>
                <a:cs typeface="Courier New" pitchFamily="34" charset="-120"/>
              </a:rPr>
              <a:t>Scope</a:t>
            </a:r>
            <a:endParaRPr lang="en-US" sz="950" dirty="0"/>
          </a:p>
        </p:txBody>
      </p:sp>
      <p:sp>
        <p:nvSpPr>
          <p:cNvPr id="10" name="Shape 8"/>
          <p:cNvSpPr/>
          <p:nvPr/>
        </p:nvSpPr>
        <p:spPr>
          <a:xfrm>
            <a:off x="2212848" y="1783080"/>
            <a:ext cx="9326880" cy="676656"/>
          </a:xfrm>
          <a:prstGeom prst="roundRect">
            <a:avLst>
              <a:gd name="adj" fmla="val 8108"/>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1" name="Text 9"/>
          <p:cNvSpPr/>
          <p:nvPr/>
        </p:nvSpPr>
        <p:spPr>
          <a:xfrm>
            <a:off x="2468880" y="1783080"/>
            <a:ext cx="8869680" cy="676656"/>
          </a:xfrm>
          <a:prstGeom prst="rect">
            <a:avLst/>
          </a:prstGeom>
          <a:noFill/>
          <a:ln/>
        </p:spPr>
        <p:txBody>
          <a:bodyPr wrap="square" lIns="0" tIns="0" rIns="0" bIns="0" rtlCol="0" anchor="ctr"/>
          <a:lstStyle/>
          <a:p>
            <a:pPr indent="0" marL="0">
              <a:buNone/>
            </a:pPr>
            <a:r>
              <a:rPr lang="en-US" sz="1200" dirty="0">
                <a:solidFill>
                  <a:srgbClr val="2B3A55"/>
                </a:solidFill>
                <a:latin typeface="Calibri" pitchFamily="34" charset="0"/>
                <a:ea typeface="Calibri" pitchFamily="34" charset="-122"/>
                <a:cs typeface="Calibri" pitchFamily="34" charset="-120"/>
              </a:rPr>
              <a:t>Scoping 17 SOC-grade pages + bespoke forensic viewers in hackathon time</a:t>
            </a:r>
            <a:endParaRPr lang="en-US" sz="1200" dirty="0"/>
          </a:p>
        </p:txBody>
      </p:sp>
      <p:sp>
        <p:nvSpPr>
          <p:cNvPr id="12" name="Shape 10"/>
          <p:cNvSpPr/>
          <p:nvPr/>
        </p:nvSpPr>
        <p:spPr>
          <a:xfrm>
            <a:off x="658368" y="2606040"/>
            <a:ext cx="1463040" cy="676656"/>
          </a:xfrm>
          <a:prstGeom prst="roundRect">
            <a:avLst>
              <a:gd name="adj" fmla="val 8108"/>
            </a:avLst>
          </a:prstGeom>
          <a:solidFill>
            <a:srgbClr val="0B1F3A"/>
          </a:solidFill>
          <a:ln/>
        </p:spPr>
      </p:sp>
      <p:sp>
        <p:nvSpPr>
          <p:cNvPr id="13" name="Text 11"/>
          <p:cNvSpPr/>
          <p:nvPr/>
        </p:nvSpPr>
        <p:spPr>
          <a:xfrm>
            <a:off x="658368" y="2606040"/>
            <a:ext cx="1463040" cy="676656"/>
          </a:xfrm>
          <a:prstGeom prst="rect">
            <a:avLst/>
          </a:prstGeom>
          <a:noFill/>
          <a:ln/>
        </p:spPr>
        <p:txBody>
          <a:bodyPr wrap="square" lIns="0" tIns="0" rIns="0" bIns="0" rtlCol="0" anchor="ctr"/>
          <a:lstStyle/>
          <a:p>
            <a:pPr algn="ctr" indent="0" marL="0">
              <a:buNone/>
            </a:pPr>
            <a:r>
              <a:rPr lang="en-US" sz="950" b="1" dirty="0">
                <a:solidFill>
                  <a:srgbClr val="12B5CB"/>
                </a:solidFill>
                <a:latin typeface="Courier New" pitchFamily="34" charset="0"/>
                <a:ea typeface="Courier New" pitchFamily="34" charset="-122"/>
                <a:cs typeface="Courier New" pitchFamily="34" charset="-120"/>
              </a:rPr>
              <a:t>Contract</a:t>
            </a:r>
            <a:endParaRPr lang="en-US" sz="950" dirty="0"/>
          </a:p>
        </p:txBody>
      </p:sp>
      <p:sp>
        <p:nvSpPr>
          <p:cNvPr id="14" name="Shape 12"/>
          <p:cNvSpPr/>
          <p:nvPr/>
        </p:nvSpPr>
        <p:spPr>
          <a:xfrm>
            <a:off x="2212848" y="2606040"/>
            <a:ext cx="9326880" cy="676656"/>
          </a:xfrm>
          <a:prstGeom prst="roundRect">
            <a:avLst>
              <a:gd name="adj" fmla="val 8108"/>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5" name="Text 13"/>
          <p:cNvSpPr/>
          <p:nvPr/>
        </p:nvSpPr>
        <p:spPr>
          <a:xfrm>
            <a:off x="2468880" y="2606040"/>
            <a:ext cx="8869680" cy="676656"/>
          </a:xfrm>
          <a:prstGeom prst="rect">
            <a:avLst/>
          </a:prstGeom>
          <a:noFill/>
          <a:ln/>
        </p:spPr>
        <p:txBody>
          <a:bodyPr wrap="square" lIns="0" tIns="0" rIns="0" bIns="0" rtlCol="0" anchor="ctr"/>
          <a:lstStyle/>
          <a:p>
            <a:pPr indent="0" marL="0">
              <a:buNone/>
            </a:pPr>
            <a:r>
              <a:rPr lang="en-US" sz="1200" dirty="0">
                <a:solidFill>
                  <a:srgbClr val="2B3A55"/>
                </a:solidFill>
                <a:latin typeface="Calibri" pitchFamily="34" charset="0"/>
                <a:ea typeface="Calibri" pitchFamily="34" charset="-122"/>
                <a:cs typeface="Calibri" pitchFamily="34" charset="-120"/>
              </a:rPr>
              <a:t>One analyzer contract covering image, video &amp; audio before any model existed</a:t>
            </a:r>
            <a:endParaRPr lang="en-US" sz="1200" dirty="0"/>
          </a:p>
        </p:txBody>
      </p:sp>
      <p:sp>
        <p:nvSpPr>
          <p:cNvPr id="16" name="Shape 14"/>
          <p:cNvSpPr/>
          <p:nvPr/>
        </p:nvSpPr>
        <p:spPr>
          <a:xfrm>
            <a:off x="658368" y="3429000"/>
            <a:ext cx="1463040" cy="676656"/>
          </a:xfrm>
          <a:prstGeom prst="roundRect">
            <a:avLst>
              <a:gd name="adj" fmla="val 8108"/>
            </a:avLst>
          </a:prstGeom>
          <a:solidFill>
            <a:srgbClr val="0B1F3A"/>
          </a:solidFill>
          <a:ln/>
        </p:spPr>
      </p:sp>
      <p:sp>
        <p:nvSpPr>
          <p:cNvPr id="17" name="Text 15"/>
          <p:cNvSpPr/>
          <p:nvPr/>
        </p:nvSpPr>
        <p:spPr>
          <a:xfrm>
            <a:off x="658368" y="3429000"/>
            <a:ext cx="1463040" cy="676656"/>
          </a:xfrm>
          <a:prstGeom prst="rect">
            <a:avLst/>
          </a:prstGeom>
          <a:noFill/>
          <a:ln/>
        </p:spPr>
        <p:txBody>
          <a:bodyPr wrap="square" lIns="0" tIns="0" rIns="0" bIns="0" rtlCol="0" anchor="ctr"/>
          <a:lstStyle/>
          <a:p>
            <a:pPr algn="ctr" indent="0" marL="0">
              <a:buNone/>
            </a:pPr>
            <a:r>
              <a:rPr lang="en-US" sz="950" b="1" dirty="0">
                <a:solidFill>
                  <a:srgbClr val="12B5CB"/>
                </a:solidFill>
                <a:latin typeface="Courier New" pitchFamily="34" charset="0"/>
                <a:ea typeface="Courier New" pitchFamily="34" charset="-122"/>
                <a:cs typeface="Courier New" pitchFamily="34" charset="-120"/>
              </a:rPr>
              <a:t>No-ML engine</a:t>
            </a:r>
            <a:endParaRPr lang="en-US" sz="950" dirty="0"/>
          </a:p>
        </p:txBody>
      </p:sp>
      <p:sp>
        <p:nvSpPr>
          <p:cNvPr id="18" name="Shape 16"/>
          <p:cNvSpPr/>
          <p:nvPr/>
        </p:nvSpPr>
        <p:spPr>
          <a:xfrm>
            <a:off x="2212848" y="3429000"/>
            <a:ext cx="9326880" cy="676656"/>
          </a:xfrm>
          <a:prstGeom prst="roundRect">
            <a:avLst>
              <a:gd name="adj" fmla="val 8108"/>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19" name="Text 17"/>
          <p:cNvSpPr/>
          <p:nvPr/>
        </p:nvSpPr>
        <p:spPr>
          <a:xfrm>
            <a:off x="2468880" y="3429000"/>
            <a:ext cx="8869680" cy="676656"/>
          </a:xfrm>
          <a:prstGeom prst="rect">
            <a:avLst/>
          </a:prstGeom>
          <a:noFill/>
          <a:ln/>
        </p:spPr>
        <p:txBody>
          <a:bodyPr wrap="square" lIns="0" tIns="0" rIns="0" bIns="0" rtlCol="0" anchor="ctr"/>
          <a:lstStyle/>
          <a:p>
            <a:pPr indent="0" marL="0">
              <a:buNone/>
            </a:pPr>
            <a:r>
              <a:rPr lang="en-US" sz="1200" dirty="0">
                <a:solidFill>
                  <a:srgbClr val="2B3A55"/>
                </a:solidFill>
                <a:latin typeface="Calibri" pitchFamily="34" charset="0"/>
                <a:ea typeface="Calibri" pitchFamily="34" charset="-122"/>
                <a:cs typeface="Calibri" pitchFamily="34" charset="-120"/>
              </a:rPr>
              <a:t>Writing a real forensic engine that fills the same contract a model will</a:t>
            </a:r>
            <a:endParaRPr lang="en-US" sz="1200" dirty="0"/>
          </a:p>
        </p:txBody>
      </p:sp>
      <p:sp>
        <p:nvSpPr>
          <p:cNvPr id="20" name="Shape 18"/>
          <p:cNvSpPr/>
          <p:nvPr/>
        </p:nvSpPr>
        <p:spPr>
          <a:xfrm>
            <a:off x="658368" y="4251960"/>
            <a:ext cx="1463040" cy="676656"/>
          </a:xfrm>
          <a:prstGeom prst="roundRect">
            <a:avLst>
              <a:gd name="adj" fmla="val 8108"/>
            </a:avLst>
          </a:prstGeom>
          <a:solidFill>
            <a:srgbClr val="0B1F3A"/>
          </a:solidFill>
          <a:ln/>
        </p:spPr>
      </p:sp>
      <p:sp>
        <p:nvSpPr>
          <p:cNvPr id="21" name="Text 19"/>
          <p:cNvSpPr/>
          <p:nvPr/>
        </p:nvSpPr>
        <p:spPr>
          <a:xfrm>
            <a:off x="658368" y="4251960"/>
            <a:ext cx="1463040" cy="676656"/>
          </a:xfrm>
          <a:prstGeom prst="rect">
            <a:avLst/>
          </a:prstGeom>
          <a:noFill/>
          <a:ln/>
        </p:spPr>
        <p:txBody>
          <a:bodyPr wrap="square" lIns="0" tIns="0" rIns="0" bIns="0" rtlCol="0" anchor="ctr"/>
          <a:lstStyle/>
          <a:p>
            <a:pPr algn="ctr" indent="0" marL="0">
              <a:buNone/>
            </a:pPr>
            <a:r>
              <a:rPr lang="en-US" sz="950" b="1" dirty="0">
                <a:solidFill>
                  <a:srgbClr val="12B5CB"/>
                </a:solidFill>
                <a:latin typeface="Courier New" pitchFamily="34" charset="0"/>
                <a:ea typeface="Courier New" pitchFamily="34" charset="-122"/>
                <a:cs typeface="Courier New" pitchFamily="34" charset="-120"/>
              </a:rPr>
              <a:t>Client</a:t>
            </a:r>
            <a:endParaRPr lang="en-US" sz="950" dirty="0"/>
          </a:p>
        </p:txBody>
      </p:sp>
      <p:sp>
        <p:nvSpPr>
          <p:cNvPr id="22" name="Shape 20"/>
          <p:cNvSpPr/>
          <p:nvPr/>
        </p:nvSpPr>
        <p:spPr>
          <a:xfrm>
            <a:off x="2212848" y="4251960"/>
            <a:ext cx="9326880" cy="676656"/>
          </a:xfrm>
          <a:prstGeom prst="roundRect">
            <a:avLst>
              <a:gd name="adj" fmla="val 8108"/>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3" name="Text 21"/>
          <p:cNvSpPr/>
          <p:nvPr/>
        </p:nvSpPr>
        <p:spPr>
          <a:xfrm>
            <a:off x="2468880" y="4251960"/>
            <a:ext cx="8869680" cy="676656"/>
          </a:xfrm>
          <a:prstGeom prst="rect">
            <a:avLst/>
          </a:prstGeom>
          <a:noFill/>
          <a:ln/>
        </p:spPr>
        <p:txBody>
          <a:bodyPr wrap="square" lIns="0" tIns="0" rIns="0" bIns="0" rtlCol="0" anchor="ctr"/>
          <a:lstStyle/>
          <a:p>
            <a:pPr indent="0" marL="0">
              <a:buNone/>
            </a:pPr>
            <a:r>
              <a:rPr lang="en-US" sz="1200" dirty="0">
                <a:solidFill>
                  <a:srgbClr val="2B3A55"/>
                </a:solidFill>
                <a:latin typeface="Calibri" pitchFamily="34" charset="0"/>
                <a:ea typeface="Calibri" pitchFamily="34" charset="-122"/>
                <a:cs typeface="Calibri" pitchFamily="34" charset="-120"/>
              </a:rPr>
              <a:t>Making the client server-authoritative while read views stay resilient offline</a:t>
            </a:r>
            <a:endParaRPr lang="en-US" sz="1200" dirty="0"/>
          </a:p>
        </p:txBody>
      </p:sp>
      <p:sp>
        <p:nvSpPr>
          <p:cNvPr id="24" name="Shape 22"/>
          <p:cNvSpPr/>
          <p:nvPr/>
        </p:nvSpPr>
        <p:spPr>
          <a:xfrm>
            <a:off x="658368" y="5074920"/>
            <a:ext cx="1463040" cy="676656"/>
          </a:xfrm>
          <a:prstGeom prst="roundRect">
            <a:avLst>
              <a:gd name="adj" fmla="val 8108"/>
            </a:avLst>
          </a:prstGeom>
          <a:solidFill>
            <a:srgbClr val="0B1F3A"/>
          </a:solidFill>
          <a:ln/>
        </p:spPr>
      </p:sp>
      <p:sp>
        <p:nvSpPr>
          <p:cNvPr id="25" name="Text 23"/>
          <p:cNvSpPr/>
          <p:nvPr/>
        </p:nvSpPr>
        <p:spPr>
          <a:xfrm>
            <a:off x="658368" y="5074920"/>
            <a:ext cx="1463040" cy="676656"/>
          </a:xfrm>
          <a:prstGeom prst="rect">
            <a:avLst/>
          </a:prstGeom>
          <a:noFill/>
          <a:ln/>
        </p:spPr>
        <p:txBody>
          <a:bodyPr wrap="square" lIns="0" tIns="0" rIns="0" bIns="0" rtlCol="0" anchor="ctr"/>
          <a:lstStyle/>
          <a:p>
            <a:pPr algn="ctr" indent="0" marL="0">
              <a:buNone/>
            </a:pPr>
            <a:r>
              <a:rPr lang="en-US" sz="950" b="1" dirty="0">
                <a:solidFill>
                  <a:srgbClr val="12B5CB"/>
                </a:solidFill>
                <a:latin typeface="Courier New" pitchFamily="34" charset="0"/>
                <a:ea typeface="Courier New" pitchFamily="34" charset="-122"/>
                <a:cs typeface="Courier New" pitchFamily="34" charset="-120"/>
              </a:rPr>
              <a:t>Deferred</a:t>
            </a:r>
            <a:endParaRPr lang="en-US" sz="950" dirty="0"/>
          </a:p>
        </p:txBody>
      </p:sp>
      <p:sp>
        <p:nvSpPr>
          <p:cNvPr id="26" name="Shape 24"/>
          <p:cNvSpPr/>
          <p:nvPr/>
        </p:nvSpPr>
        <p:spPr>
          <a:xfrm>
            <a:off x="2212848" y="5074920"/>
            <a:ext cx="9326880" cy="676656"/>
          </a:xfrm>
          <a:prstGeom prst="roundRect">
            <a:avLst>
              <a:gd name="adj" fmla="val 8108"/>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sp>
        <p:nvSpPr>
          <p:cNvPr id="27" name="Text 25"/>
          <p:cNvSpPr/>
          <p:nvPr/>
        </p:nvSpPr>
        <p:spPr>
          <a:xfrm>
            <a:off x="2468880" y="5074920"/>
            <a:ext cx="8869680" cy="676656"/>
          </a:xfrm>
          <a:prstGeom prst="rect">
            <a:avLst/>
          </a:prstGeom>
          <a:noFill/>
          <a:ln/>
        </p:spPr>
        <p:txBody>
          <a:bodyPr wrap="square" lIns="0" tIns="0" rIns="0" bIns="0" rtlCol="0" anchor="ctr"/>
          <a:lstStyle/>
          <a:p>
            <a:pPr indent="0" marL="0">
              <a:buNone/>
            </a:pPr>
            <a:r>
              <a:rPr lang="en-US" sz="1200" dirty="0">
                <a:solidFill>
                  <a:srgbClr val="2B3A55"/>
                </a:solidFill>
                <a:latin typeface="Calibri" pitchFamily="34" charset="0"/>
                <a:ea typeface="Calibri" pitchFamily="34" charset="-122"/>
                <a:cs typeface="Calibri" pitchFamily="34" charset="-120"/>
              </a:rPr>
              <a:t>Trained face-forgery / voice models + ffmpeg frame &amp; audio extraction</a:t>
            </a:r>
            <a:endParaRPr lang="en-US" sz="1200" dirty="0"/>
          </a:p>
        </p:txBody>
      </p:sp>
      <p:sp>
        <p:nvSpPr>
          <p:cNvPr id="28" name="Text 26"/>
          <p:cNvSpPr/>
          <p:nvPr/>
        </p:nvSpPr>
        <p:spPr>
          <a:xfrm>
            <a:off x="658368" y="6035040"/>
            <a:ext cx="10972800" cy="320040"/>
          </a:xfrm>
          <a:prstGeom prst="rect">
            <a:avLst/>
          </a:prstGeom>
          <a:noFill/>
          <a:ln/>
        </p:spPr>
        <p:txBody>
          <a:bodyPr wrap="square" lIns="0" tIns="0" rIns="0" bIns="0" rtlCol="0" anchor="ctr"/>
          <a:lstStyle/>
          <a:p>
            <a:pPr indent="0" marL="0">
              <a:buNone/>
            </a:pPr>
            <a:r>
              <a:rPr lang="en-US" sz="1050" i="1" dirty="0">
                <a:solidFill>
                  <a:srgbClr val="6B7A99"/>
                </a:solidFill>
                <a:latin typeface="Calibri" pitchFamily="34" charset="0"/>
                <a:ea typeface="Calibri" pitchFamily="34" charset="-122"/>
                <a:cs typeface="Calibri" pitchFamily="34" charset="-120"/>
              </a:rPr>
              <a:t>The core problem: defining the AnalysisCase contract for all three modalities before a model existed, then writing a real engine to fill it.</a:t>
            </a:r>
            <a:endParaRPr lang="en-US" sz="1050" dirty="0"/>
          </a:p>
        </p:txBody>
      </p:sp>
      <p:sp>
        <p:nvSpPr>
          <p:cNvPr id="29" name="Text 27"/>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30" name="Text 28"/>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09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09 · CHALLENGES FACED</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Domain risk we design around</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58368" y="1856232"/>
            <a:ext cx="146304" cy="640080"/>
          </a:xfrm>
          <a:prstGeom prst="rect">
            <a:avLst/>
          </a:prstGeom>
          <a:solidFill>
            <a:srgbClr val="E5484D"/>
          </a:solidFill>
          <a:ln/>
        </p:spPr>
      </p:sp>
      <p:sp>
        <p:nvSpPr>
          <p:cNvPr id="9" name="Text 7"/>
          <p:cNvSpPr/>
          <p:nvPr/>
        </p:nvSpPr>
        <p:spPr>
          <a:xfrm>
            <a:off x="960120" y="1783080"/>
            <a:ext cx="6126480" cy="786384"/>
          </a:xfrm>
          <a:prstGeom prst="rect">
            <a:avLst/>
          </a:prstGeom>
          <a:noFill/>
          <a:ln/>
        </p:spPr>
        <p:txBody>
          <a:bodyPr wrap="square" lIns="0" tIns="0" rIns="0" bIns="0" rtlCol="0" anchor="ctr"/>
          <a:lstStyle/>
          <a:p>
            <a:pPr indent="0" marL="0">
              <a:lnSpc>
                <a:spcPct val="103000"/>
              </a:lnSpc>
              <a:buNone/>
            </a:pPr>
            <a:r>
              <a:rPr lang="en-US" sz="1300" b="1" dirty="0">
                <a:solidFill>
                  <a:srgbClr val="0B1F3A"/>
                </a:solidFill>
                <a:latin typeface="Calibri" pitchFamily="34" charset="0"/>
                <a:ea typeface="Calibri" pitchFamily="34" charset="-122"/>
                <a:cs typeface="Calibri" pitchFamily="34" charset="-120"/>
              </a:rPr>
              <a:t>Model staleness
</a:t>
            </a:r>
            <a:endParaRPr lang="en-US" sz="1300" dirty="0"/>
          </a:p>
          <a:p>
            <a:pPr indent="0" marL="0">
              <a:lnSpc>
                <a:spcPct val="103000"/>
              </a:lnSpc>
              <a:buNone/>
            </a:pPr>
            <a:r>
              <a:rPr lang="en-US" sz="1050" dirty="0">
                <a:solidFill>
                  <a:srgbClr val="2B3A55"/>
                </a:solidFill>
                <a:latin typeface="Calibri" pitchFamily="34" charset="0"/>
                <a:ea typeface="Calibri" pitchFamily="34" charset="-122"/>
                <a:cs typeface="Calibri" pitchFamily="34" charset="-120"/>
              </a:rPr>
              <a:t>New GANs &amp; voice cloners outpace any fixed detector</a:t>
            </a:r>
            <a:endParaRPr lang="en-US" sz="1300" dirty="0"/>
          </a:p>
        </p:txBody>
      </p:sp>
      <p:sp>
        <p:nvSpPr>
          <p:cNvPr id="10" name="Shape 8"/>
          <p:cNvSpPr/>
          <p:nvPr/>
        </p:nvSpPr>
        <p:spPr>
          <a:xfrm>
            <a:off x="7315200" y="1801368"/>
            <a:ext cx="4434840" cy="749808"/>
          </a:xfrm>
          <a:prstGeom prst="roundRect">
            <a:avLst>
              <a:gd name="adj" fmla="val 7317"/>
            </a:avLst>
          </a:prstGeom>
          <a:solidFill>
            <a:srgbClr val="ECF7F1"/>
          </a:solidFill>
          <a:ln w="12700">
            <a:solidFill>
              <a:srgbClr val="3FA37A"/>
            </a:solidFill>
            <a:prstDash val="solid"/>
          </a:ln>
        </p:spPr>
      </p:sp>
      <p:sp>
        <p:nvSpPr>
          <p:cNvPr id="11" name="Text 9"/>
          <p:cNvSpPr/>
          <p:nvPr/>
        </p:nvSpPr>
        <p:spPr>
          <a:xfrm>
            <a:off x="7498080" y="1801368"/>
            <a:ext cx="4114800" cy="749808"/>
          </a:xfrm>
          <a:prstGeom prst="rect">
            <a:avLst/>
          </a:prstGeom>
          <a:noFill/>
          <a:ln/>
        </p:spPr>
        <p:txBody>
          <a:bodyPr wrap="square" lIns="0" tIns="0" rIns="0" bIns="0" rtlCol="0" anchor="ctr"/>
          <a:lstStyle/>
          <a:p>
            <a:pPr indent="0" marL="0">
              <a:lnSpc>
                <a:spcPct val="103000"/>
              </a:lnSpc>
              <a:buNone/>
            </a:pPr>
            <a:r>
              <a:rPr lang="en-US" sz="850" b="1" dirty="0">
                <a:solidFill>
                  <a:srgbClr val="3FA37A"/>
                </a:solidFill>
                <a:latin typeface="Calibri" pitchFamily="34" charset="0"/>
                <a:ea typeface="Calibri" pitchFamily="34" charset="-122"/>
                <a:cs typeface="Calibri" pitchFamily="34" charset="-120"/>
              </a:rPr>
              <a:t>MITIGATION  </a:t>
            </a:r>
            <a:pPr indent="0" marL="0">
              <a:lnSpc>
                <a:spcPct val="103000"/>
              </a:lnSpc>
              <a:buNone/>
            </a:pPr>
            <a:r>
              <a:rPr lang="en-US" sz="1000" dirty="0">
                <a:solidFill>
                  <a:srgbClr val="2B3A55"/>
                </a:solidFill>
                <a:latin typeface="Calibri" pitchFamily="34" charset="0"/>
                <a:ea typeface="Calibri" pitchFamily="34" charset="-122"/>
                <a:cs typeface="Calibri" pitchFamily="34" charset="-120"/>
              </a:rPr>
              <a:t>Continual retraining loop from reviewer overrides</a:t>
            </a:r>
            <a:endParaRPr lang="en-US" sz="850" dirty="0"/>
          </a:p>
        </p:txBody>
      </p:sp>
      <p:sp>
        <p:nvSpPr>
          <p:cNvPr id="12" name="Shape 10"/>
          <p:cNvSpPr/>
          <p:nvPr/>
        </p:nvSpPr>
        <p:spPr>
          <a:xfrm>
            <a:off x="658368" y="2770632"/>
            <a:ext cx="146304" cy="640080"/>
          </a:xfrm>
          <a:prstGeom prst="rect">
            <a:avLst/>
          </a:prstGeom>
          <a:solidFill>
            <a:srgbClr val="E5484D"/>
          </a:solidFill>
          <a:ln/>
        </p:spPr>
      </p:sp>
      <p:sp>
        <p:nvSpPr>
          <p:cNvPr id="13" name="Text 11"/>
          <p:cNvSpPr/>
          <p:nvPr/>
        </p:nvSpPr>
        <p:spPr>
          <a:xfrm>
            <a:off x="960120" y="2697480"/>
            <a:ext cx="6126480" cy="786384"/>
          </a:xfrm>
          <a:prstGeom prst="rect">
            <a:avLst/>
          </a:prstGeom>
          <a:noFill/>
          <a:ln/>
        </p:spPr>
        <p:txBody>
          <a:bodyPr wrap="square" lIns="0" tIns="0" rIns="0" bIns="0" rtlCol="0" anchor="ctr"/>
          <a:lstStyle/>
          <a:p>
            <a:pPr indent="0" marL="0">
              <a:lnSpc>
                <a:spcPct val="103000"/>
              </a:lnSpc>
              <a:buNone/>
            </a:pPr>
            <a:r>
              <a:rPr lang="en-US" sz="1300" b="1" dirty="0">
                <a:solidFill>
                  <a:srgbClr val="0B1F3A"/>
                </a:solidFill>
                <a:latin typeface="Calibri" pitchFamily="34" charset="0"/>
                <a:ea typeface="Calibri" pitchFamily="34" charset="-122"/>
                <a:cs typeface="Calibri" pitchFamily="34" charset="-120"/>
              </a:rPr>
              <a:t>Compute cost
</a:t>
            </a:r>
            <a:endParaRPr lang="en-US" sz="1300" dirty="0"/>
          </a:p>
          <a:p>
            <a:pPr indent="0" marL="0">
              <a:lnSpc>
                <a:spcPct val="103000"/>
              </a:lnSpc>
              <a:buNone/>
            </a:pPr>
            <a:r>
              <a:rPr lang="en-US" sz="1050" dirty="0">
                <a:solidFill>
                  <a:srgbClr val="2B3A55"/>
                </a:solidFill>
                <a:latin typeface="Calibri" pitchFamily="34" charset="0"/>
                <a:ea typeface="Calibri" pitchFamily="34" charset="-122"/>
                <a:cs typeface="Calibri" pitchFamily="34" charset="-120"/>
              </a:rPr>
              <a:t>Real-time video inference is GPU-heavy vs. latency goals</a:t>
            </a:r>
            <a:endParaRPr lang="en-US" sz="1300" dirty="0"/>
          </a:p>
        </p:txBody>
      </p:sp>
      <p:sp>
        <p:nvSpPr>
          <p:cNvPr id="14" name="Shape 12"/>
          <p:cNvSpPr/>
          <p:nvPr/>
        </p:nvSpPr>
        <p:spPr>
          <a:xfrm>
            <a:off x="7315200" y="2715768"/>
            <a:ext cx="4434840" cy="749808"/>
          </a:xfrm>
          <a:prstGeom prst="roundRect">
            <a:avLst>
              <a:gd name="adj" fmla="val 7317"/>
            </a:avLst>
          </a:prstGeom>
          <a:solidFill>
            <a:srgbClr val="ECF7F1"/>
          </a:solidFill>
          <a:ln w="12700">
            <a:solidFill>
              <a:srgbClr val="3FA37A"/>
            </a:solidFill>
            <a:prstDash val="solid"/>
          </a:ln>
        </p:spPr>
      </p:sp>
      <p:sp>
        <p:nvSpPr>
          <p:cNvPr id="15" name="Text 13"/>
          <p:cNvSpPr/>
          <p:nvPr/>
        </p:nvSpPr>
        <p:spPr>
          <a:xfrm>
            <a:off x="7498080" y="2715768"/>
            <a:ext cx="4114800" cy="749808"/>
          </a:xfrm>
          <a:prstGeom prst="rect">
            <a:avLst/>
          </a:prstGeom>
          <a:noFill/>
          <a:ln/>
        </p:spPr>
        <p:txBody>
          <a:bodyPr wrap="square" lIns="0" tIns="0" rIns="0" bIns="0" rtlCol="0" anchor="ctr"/>
          <a:lstStyle/>
          <a:p>
            <a:pPr indent="0" marL="0">
              <a:lnSpc>
                <a:spcPct val="103000"/>
              </a:lnSpc>
              <a:buNone/>
            </a:pPr>
            <a:r>
              <a:rPr lang="en-US" sz="850" b="1" dirty="0">
                <a:solidFill>
                  <a:srgbClr val="3FA37A"/>
                </a:solidFill>
                <a:latin typeface="Calibri" pitchFamily="34" charset="0"/>
                <a:ea typeface="Calibri" pitchFamily="34" charset="-122"/>
                <a:cs typeface="Calibri" pitchFamily="34" charset="-120"/>
              </a:rPr>
              <a:t>MITIGATION  </a:t>
            </a:r>
            <a:pPr indent="0" marL="0">
              <a:lnSpc>
                <a:spcPct val="103000"/>
              </a:lnSpc>
              <a:buNone/>
            </a:pPr>
            <a:r>
              <a:rPr lang="en-US" sz="1000" dirty="0">
                <a:solidFill>
                  <a:srgbClr val="2B3A55"/>
                </a:solidFill>
                <a:latin typeface="Calibri" pitchFamily="34" charset="0"/>
                <a:ea typeface="Calibri" pitchFamily="34" charset="-122"/>
                <a:cs typeface="Calibri" pitchFamily="34" charset="-120"/>
              </a:rPr>
              <a:t>Lightweight edge triage pass before deep model</a:t>
            </a:r>
            <a:endParaRPr lang="en-US" sz="850" dirty="0"/>
          </a:p>
        </p:txBody>
      </p:sp>
      <p:sp>
        <p:nvSpPr>
          <p:cNvPr id="16" name="Shape 14"/>
          <p:cNvSpPr/>
          <p:nvPr/>
        </p:nvSpPr>
        <p:spPr>
          <a:xfrm>
            <a:off x="658368" y="3685032"/>
            <a:ext cx="146304" cy="640080"/>
          </a:xfrm>
          <a:prstGeom prst="rect">
            <a:avLst/>
          </a:prstGeom>
          <a:solidFill>
            <a:srgbClr val="E5484D"/>
          </a:solidFill>
          <a:ln/>
        </p:spPr>
      </p:sp>
      <p:sp>
        <p:nvSpPr>
          <p:cNvPr id="17" name="Text 15"/>
          <p:cNvSpPr/>
          <p:nvPr/>
        </p:nvSpPr>
        <p:spPr>
          <a:xfrm>
            <a:off x="960120" y="3611880"/>
            <a:ext cx="6126480" cy="786384"/>
          </a:xfrm>
          <a:prstGeom prst="rect">
            <a:avLst/>
          </a:prstGeom>
          <a:noFill/>
          <a:ln/>
        </p:spPr>
        <p:txBody>
          <a:bodyPr wrap="square" lIns="0" tIns="0" rIns="0" bIns="0" rtlCol="0" anchor="ctr"/>
          <a:lstStyle/>
          <a:p>
            <a:pPr indent="0" marL="0">
              <a:lnSpc>
                <a:spcPct val="103000"/>
              </a:lnSpc>
              <a:buNone/>
            </a:pPr>
            <a:r>
              <a:rPr lang="en-US" sz="1300" b="1" dirty="0">
                <a:solidFill>
                  <a:srgbClr val="0B1F3A"/>
                </a:solidFill>
                <a:latin typeface="Calibri" pitchFamily="34" charset="0"/>
                <a:ea typeface="Calibri" pitchFamily="34" charset="-122"/>
                <a:cs typeface="Calibri" pitchFamily="34" charset="-120"/>
              </a:rPr>
              <a:t>False positives
</a:t>
            </a:r>
            <a:endParaRPr lang="en-US" sz="1300" dirty="0"/>
          </a:p>
          <a:p>
            <a:pPr indent="0" marL="0">
              <a:lnSpc>
                <a:spcPct val="103000"/>
              </a:lnSpc>
              <a:buNone/>
            </a:pPr>
            <a:r>
              <a:rPr lang="en-US" sz="1050" dirty="0">
                <a:solidFill>
                  <a:srgbClr val="2B3A55"/>
                </a:solidFill>
                <a:latin typeface="Calibri" pitchFamily="34" charset="0"/>
                <a:ea typeface="Calibri" pitchFamily="34" charset="-122"/>
                <a:cs typeface="Calibri" pitchFamily="34" charset="-120"/>
              </a:rPr>
              <a:t>Flagging authentic media is reputationally costly</a:t>
            </a:r>
            <a:endParaRPr lang="en-US" sz="1300" dirty="0"/>
          </a:p>
        </p:txBody>
      </p:sp>
      <p:sp>
        <p:nvSpPr>
          <p:cNvPr id="18" name="Shape 16"/>
          <p:cNvSpPr/>
          <p:nvPr/>
        </p:nvSpPr>
        <p:spPr>
          <a:xfrm>
            <a:off x="7315200" y="3630168"/>
            <a:ext cx="4434840" cy="749808"/>
          </a:xfrm>
          <a:prstGeom prst="roundRect">
            <a:avLst>
              <a:gd name="adj" fmla="val 7317"/>
            </a:avLst>
          </a:prstGeom>
          <a:solidFill>
            <a:srgbClr val="ECF7F1"/>
          </a:solidFill>
          <a:ln w="12700">
            <a:solidFill>
              <a:srgbClr val="3FA37A"/>
            </a:solidFill>
            <a:prstDash val="solid"/>
          </a:ln>
        </p:spPr>
      </p:sp>
      <p:sp>
        <p:nvSpPr>
          <p:cNvPr id="19" name="Text 17"/>
          <p:cNvSpPr/>
          <p:nvPr/>
        </p:nvSpPr>
        <p:spPr>
          <a:xfrm>
            <a:off x="7498080" y="3630168"/>
            <a:ext cx="4114800" cy="749808"/>
          </a:xfrm>
          <a:prstGeom prst="rect">
            <a:avLst/>
          </a:prstGeom>
          <a:noFill/>
          <a:ln/>
        </p:spPr>
        <p:txBody>
          <a:bodyPr wrap="square" lIns="0" tIns="0" rIns="0" bIns="0" rtlCol="0" anchor="ctr"/>
          <a:lstStyle/>
          <a:p>
            <a:pPr indent="0" marL="0">
              <a:lnSpc>
                <a:spcPct val="103000"/>
              </a:lnSpc>
              <a:buNone/>
            </a:pPr>
            <a:r>
              <a:rPr lang="en-US" sz="850" b="1" dirty="0">
                <a:solidFill>
                  <a:srgbClr val="3FA37A"/>
                </a:solidFill>
                <a:latin typeface="Calibri" pitchFamily="34" charset="0"/>
                <a:ea typeface="Calibri" pitchFamily="34" charset="-122"/>
                <a:cs typeface="Calibri" pitchFamily="34" charset="-120"/>
              </a:rPr>
              <a:t>MITIGATION  </a:t>
            </a:r>
            <a:pPr indent="0" marL="0">
              <a:lnSpc>
                <a:spcPct val="103000"/>
              </a:lnSpc>
              <a:buNone/>
            </a:pPr>
            <a:r>
              <a:rPr lang="en-US" sz="1000" dirty="0">
                <a:solidFill>
                  <a:srgbClr val="2B3A55"/>
                </a:solidFill>
                <a:latin typeface="Calibri" pitchFamily="34" charset="0"/>
                <a:ea typeface="Calibri" pitchFamily="34" charset="-122"/>
                <a:cs typeface="Calibri" pitchFamily="34" charset="-120"/>
              </a:rPr>
              <a:t>Ensemble + provenance; review-required thresholds</a:t>
            </a:r>
            <a:endParaRPr lang="en-US" sz="850" dirty="0"/>
          </a:p>
        </p:txBody>
      </p:sp>
      <p:sp>
        <p:nvSpPr>
          <p:cNvPr id="20" name="Shape 18"/>
          <p:cNvSpPr/>
          <p:nvPr/>
        </p:nvSpPr>
        <p:spPr>
          <a:xfrm>
            <a:off x="658368" y="4599432"/>
            <a:ext cx="146304" cy="640080"/>
          </a:xfrm>
          <a:prstGeom prst="rect">
            <a:avLst/>
          </a:prstGeom>
          <a:solidFill>
            <a:srgbClr val="E5484D"/>
          </a:solidFill>
          <a:ln/>
        </p:spPr>
      </p:sp>
      <p:sp>
        <p:nvSpPr>
          <p:cNvPr id="21" name="Text 19"/>
          <p:cNvSpPr/>
          <p:nvPr/>
        </p:nvSpPr>
        <p:spPr>
          <a:xfrm>
            <a:off x="960120" y="4526280"/>
            <a:ext cx="6126480" cy="786384"/>
          </a:xfrm>
          <a:prstGeom prst="rect">
            <a:avLst/>
          </a:prstGeom>
          <a:noFill/>
          <a:ln/>
        </p:spPr>
        <p:txBody>
          <a:bodyPr wrap="square" lIns="0" tIns="0" rIns="0" bIns="0" rtlCol="0" anchor="ctr"/>
          <a:lstStyle/>
          <a:p>
            <a:pPr indent="0" marL="0">
              <a:lnSpc>
                <a:spcPct val="103000"/>
              </a:lnSpc>
              <a:buNone/>
            </a:pPr>
            <a:r>
              <a:rPr lang="en-US" sz="1300" b="1" dirty="0">
                <a:solidFill>
                  <a:srgbClr val="0B1F3A"/>
                </a:solidFill>
                <a:latin typeface="Calibri" pitchFamily="34" charset="0"/>
                <a:ea typeface="Calibri" pitchFamily="34" charset="-122"/>
                <a:cs typeface="Calibri" pitchFamily="34" charset="-120"/>
              </a:rPr>
              <a:t>Language bias
</a:t>
            </a:r>
            <a:endParaRPr lang="en-US" sz="1300" dirty="0"/>
          </a:p>
          <a:p>
            <a:pPr indent="0" marL="0">
              <a:lnSpc>
                <a:spcPct val="103000"/>
              </a:lnSpc>
              <a:buNone/>
            </a:pPr>
            <a:r>
              <a:rPr lang="en-US" sz="1050" dirty="0">
                <a:solidFill>
                  <a:srgbClr val="2B3A55"/>
                </a:solidFill>
                <a:latin typeface="Calibri" pitchFamily="34" charset="0"/>
                <a:ea typeface="Calibri" pitchFamily="34" charset="-122"/>
                <a:cs typeface="Calibri" pitchFamily="34" charset="-120"/>
              </a:rPr>
              <a:t>Lip-sync &amp; synthetic-voice cues carry dialect bias</a:t>
            </a:r>
            <a:endParaRPr lang="en-US" sz="1300" dirty="0"/>
          </a:p>
        </p:txBody>
      </p:sp>
      <p:sp>
        <p:nvSpPr>
          <p:cNvPr id="22" name="Shape 20"/>
          <p:cNvSpPr/>
          <p:nvPr/>
        </p:nvSpPr>
        <p:spPr>
          <a:xfrm>
            <a:off x="7315200" y="4544568"/>
            <a:ext cx="4434840" cy="749808"/>
          </a:xfrm>
          <a:prstGeom prst="roundRect">
            <a:avLst>
              <a:gd name="adj" fmla="val 7317"/>
            </a:avLst>
          </a:prstGeom>
          <a:solidFill>
            <a:srgbClr val="ECF7F1"/>
          </a:solidFill>
          <a:ln w="12700">
            <a:solidFill>
              <a:srgbClr val="3FA37A"/>
            </a:solidFill>
            <a:prstDash val="solid"/>
          </a:ln>
        </p:spPr>
      </p:sp>
      <p:sp>
        <p:nvSpPr>
          <p:cNvPr id="23" name="Text 21"/>
          <p:cNvSpPr/>
          <p:nvPr/>
        </p:nvSpPr>
        <p:spPr>
          <a:xfrm>
            <a:off x="7498080" y="4544568"/>
            <a:ext cx="4114800" cy="749808"/>
          </a:xfrm>
          <a:prstGeom prst="rect">
            <a:avLst/>
          </a:prstGeom>
          <a:noFill/>
          <a:ln/>
        </p:spPr>
        <p:txBody>
          <a:bodyPr wrap="square" lIns="0" tIns="0" rIns="0" bIns="0" rtlCol="0" anchor="ctr"/>
          <a:lstStyle/>
          <a:p>
            <a:pPr indent="0" marL="0">
              <a:lnSpc>
                <a:spcPct val="103000"/>
              </a:lnSpc>
              <a:buNone/>
            </a:pPr>
            <a:r>
              <a:rPr lang="en-US" sz="850" b="1" dirty="0">
                <a:solidFill>
                  <a:srgbClr val="3FA37A"/>
                </a:solidFill>
                <a:latin typeface="Calibri" pitchFamily="34" charset="0"/>
                <a:ea typeface="Calibri" pitchFamily="34" charset="-122"/>
                <a:cs typeface="Calibri" pitchFamily="34" charset="-120"/>
              </a:rPr>
              <a:t>MITIGATION  </a:t>
            </a:r>
            <a:pPr indent="0" marL="0">
              <a:lnSpc>
                <a:spcPct val="103000"/>
              </a:lnSpc>
              <a:buNone/>
            </a:pPr>
            <a:r>
              <a:rPr lang="en-US" sz="1000" dirty="0">
                <a:solidFill>
                  <a:srgbClr val="2B3A55"/>
                </a:solidFill>
                <a:latin typeface="Calibri" pitchFamily="34" charset="0"/>
                <a:ea typeface="Calibri" pitchFamily="34" charset="-122"/>
                <a:cs typeface="Calibri" pitchFamily="34" charset="-120"/>
              </a:rPr>
              <a:t>Human-in-the-loop queue for borderline calls</a:t>
            </a:r>
            <a:endParaRPr lang="en-US" sz="850" dirty="0"/>
          </a:p>
        </p:txBody>
      </p:sp>
      <p:sp>
        <p:nvSpPr>
          <p:cNvPr id="24" name="Shape 22"/>
          <p:cNvSpPr/>
          <p:nvPr/>
        </p:nvSpPr>
        <p:spPr>
          <a:xfrm>
            <a:off x="658368" y="5513832"/>
            <a:ext cx="146304" cy="640080"/>
          </a:xfrm>
          <a:prstGeom prst="rect">
            <a:avLst/>
          </a:prstGeom>
          <a:solidFill>
            <a:srgbClr val="E5484D"/>
          </a:solidFill>
          <a:ln/>
        </p:spPr>
      </p:sp>
      <p:sp>
        <p:nvSpPr>
          <p:cNvPr id="25" name="Text 23"/>
          <p:cNvSpPr/>
          <p:nvPr/>
        </p:nvSpPr>
        <p:spPr>
          <a:xfrm>
            <a:off x="960120" y="5440680"/>
            <a:ext cx="6126480" cy="786384"/>
          </a:xfrm>
          <a:prstGeom prst="rect">
            <a:avLst/>
          </a:prstGeom>
          <a:noFill/>
          <a:ln/>
        </p:spPr>
        <p:txBody>
          <a:bodyPr wrap="square" lIns="0" tIns="0" rIns="0" bIns="0" rtlCol="0" anchor="ctr"/>
          <a:lstStyle/>
          <a:p>
            <a:pPr indent="0" marL="0">
              <a:lnSpc>
                <a:spcPct val="103000"/>
              </a:lnSpc>
              <a:buNone/>
            </a:pPr>
            <a:r>
              <a:rPr lang="en-US" sz="1300" b="1" dirty="0">
                <a:solidFill>
                  <a:srgbClr val="0B1F3A"/>
                </a:solidFill>
                <a:latin typeface="Calibri" pitchFamily="34" charset="0"/>
                <a:ea typeface="Calibri" pitchFamily="34" charset="-122"/>
                <a:cs typeface="Calibri" pitchFamily="34" charset="-120"/>
              </a:rPr>
              <a:t>Heuristic recall
</a:t>
            </a:r>
            <a:endParaRPr lang="en-US" sz="1300" dirty="0"/>
          </a:p>
          <a:p>
            <a:pPr indent="0" marL="0">
              <a:lnSpc>
                <a:spcPct val="103000"/>
              </a:lnSpc>
              <a:buNone/>
            </a:pPr>
            <a:r>
              <a:rPr lang="en-US" sz="1050" dirty="0">
                <a:solidFill>
                  <a:srgbClr val="2B3A55"/>
                </a:solidFill>
                <a:latin typeface="Calibri" pitchFamily="34" charset="0"/>
                <a:ea typeface="Calibri" pitchFamily="34" charset="-122"/>
                <a:cs typeface="Calibri" pitchFamily="34" charset="-120"/>
              </a:rPr>
              <a:t>Forensic heuristic, not ML — bounded on high-quality fakes</a:t>
            </a:r>
            <a:endParaRPr lang="en-US" sz="1300" dirty="0"/>
          </a:p>
        </p:txBody>
      </p:sp>
      <p:sp>
        <p:nvSpPr>
          <p:cNvPr id="26" name="Shape 24"/>
          <p:cNvSpPr/>
          <p:nvPr/>
        </p:nvSpPr>
        <p:spPr>
          <a:xfrm>
            <a:off x="7315200" y="5458968"/>
            <a:ext cx="4434840" cy="749808"/>
          </a:xfrm>
          <a:prstGeom prst="roundRect">
            <a:avLst>
              <a:gd name="adj" fmla="val 7317"/>
            </a:avLst>
          </a:prstGeom>
          <a:solidFill>
            <a:srgbClr val="ECF7F1"/>
          </a:solidFill>
          <a:ln w="12700">
            <a:solidFill>
              <a:srgbClr val="3FA37A"/>
            </a:solidFill>
            <a:prstDash val="solid"/>
          </a:ln>
        </p:spPr>
      </p:sp>
      <p:sp>
        <p:nvSpPr>
          <p:cNvPr id="27" name="Text 25"/>
          <p:cNvSpPr/>
          <p:nvPr/>
        </p:nvSpPr>
        <p:spPr>
          <a:xfrm>
            <a:off x="7498080" y="5458968"/>
            <a:ext cx="4114800" cy="749808"/>
          </a:xfrm>
          <a:prstGeom prst="rect">
            <a:avLst/>
          </a:prstGeom>
          <a:noFill/>
          <a:ln/>
        </p:spPr>
        <p:txBody>
          <a:bodyPr wrap="square" lIns="0" tIns="0" rIns="0" bIns="0" rtlCol="0" anchor="ctr"/>
          <a:lstStyle/>
          <a:p>
            <a:pPr indent="0" marL="0">
              <a:lnSpc>
                <a:spcPct val="103000"/>
              </a:lnSpc>
              <a:buNone/>
            </a:pPr>
            <a:r>
              <a:rPr lang="en-US" sz="850" b="1" dirty="0">
                <a:solidFill>
                  <a:srgbClr val="3FA37A"/>
                </a:solidFill>
                <a:latin typeface="Calibri" pitchFamily="34" charset="0"/>
                <a:ea typeface="Calibri" pitchFamily="34" charset="-122"/>
                <a:cs typeface="Calibri" pitchFamily="34" charset="-120"/>
              </a:rPr>
              <a:t>MITIGATION  </a:t>
            </a:r>
            <a:pPr indent="0" marL="0">
              <a:lnSpc>
                <a:spcPct val="103000"/>
              </a:lnSpc>
              <a:buNone/>
            </a:pPr>
            <a:r>
              <a:rPr lang="en-US" sz="1000" dirty="0">
                <a:solidFill>
                  <a:srgbClr val="2B3A55"/>
                </a:solidFill>
                <a:latin typeface="Calibri" pitchFamily="34" charset="0"/>
                <a:ea typeface="Calibri" pitchFamily="34" charset="-122"/>
                <a:cs typeface="Calibri" pitchFamily="34" charset="-120"/>
              </a:rPr>
              <a:t>Trained model behind the same seam (Phase 3)</a:t>
            </a:r>
            <a:endParaRPr lang="en-US" sz="850" dirty="0"/>
          </a:p>
        </p:txBody>
      </p:sp>
      <p:sp>
        <p:nvSpPr>
          <p:cNvPr id="28" name="Text 26"/>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29" name="Text 27"/>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10 · FUTURE ROADMAP</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Fill the model slot — the seam is already wired</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76656" y="1691640"/>
            <a:ext cx="512064" cy="512064"/>
          </a:xfrm>
          <a:prstGeom prst="roundRect">
            <a:avLst>
              <a:gd name="adj" fmla="val 50000"/>
            </a:avLst>
          </a:prstGeom>
          <a:solidFill>
            <a:srgbClr val="12B5CB"/>
          </a:solidFill>
          <a:ln/>
        </p:spPr>
      </p:sp>
      <p:sp>
        <p:nvSpPr>
          <p:cNvPr id="9" name="Text 7"/>
          <p:cNvSpPr/>
          <p:nvPr/>
        </p:nvSpPr>
        <p:spPr>
          <a:xfrm>
            <a:off x="676656" y="169164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8"/>
          <p:cNvSpPr/>
          <p:nvPr/>
        </p:nvSpPr>
        <p:spPr>
          <a:xfrm>
            <a:off x="932688" y="2212848"/>
            <a:ext cx="0" cy="201168"/>
          </a:xfrm>
          <a:prstGeom prst="line">
            <a:avLst/>
          </a:prstGeom>
          <a:noFill/>
          <a:ln w="19050">
            <a:solidFill>
              <a:srgbClr val="D4DBEA"/>
            </a:solidFill>
            <a:prstDash val="solid"/>
          </a:ln>
        </p:spPr>
      </p:sp>
      <p:sp>
        <p:nvSpPr>
          <p:cNvPr id="11" name="Text 9"/>
          <p:cNvSpPr/>
          <p:nvPr/>
        </p:nvSpPr>
        <p:spPr>
          <a:xfrm>
            <a:off x="1463040" y="1691640"/>
            <a:ext cx="10149840" cy="512064"/>
          </a:xfrm>
          <a:prstGeom prst="rect">
            <a:avLst/>
          </a:prstGeom>
          <a:noFill/>
          <a:ln/>
        </p:spPr>
        <p:txBody>
          <a:bodyPr wrap="square" lIns="0" tIns="0" rIns="0" bIns="0" rtlCol="0" anchor="ctr"/>
          <a:lstStyle/>
          <a:p>
            <a:pPr indent="0" marL="0">
              <a:buNone/>
            </a:pPr>
            <a:r>
              <a:rPr lang="en-US" sz="1300" dirty="0">
                <a:solidFill>
                  <a:srgbClr val="2B3A55"/>
                </a:solidFill>
                <a:latin typeface="Calibri" pitchFamily="34" charset="0"/>
                <a:ea typeface="Calibri" pitchFamily="34" charset="-122"/>
                <a:cs typeface="Calibri" pitchFamily="34" charset="-120"/>
              </a:rPr>
              <a:t>Train &amp; serve real model weights behind the existing FastAPI service</a:t>
            </a:r>
            <a:endParaRPr lang="en-US" sz="1300" dirty="0"/>
          </a:p>
        </p:txBody>
      </p:sp>
      <p:sp>
        <p:nvSpPr>
          <p:cNvPr id="12" name="Shape 10"/>
          <p:cNvSpPr/>
          <p:nvPr/>
        </p:nvSpPr>
        <p:spPr>
          <a:xfrm>
            <a:off x="676656" y="2414016"/>
            <a:ext cx="512064" cy="512064"/>
          </a:xfrm>
          <a:prstGeom prst="roundRect">
            <a:avLst>
              <a:gd name="adj" fmla="val 50000"/>
            </a:avLst>
          </a:prstGeom>
          <a:solidFill>
            <a:srgbClr val="0B1F3A"/>
          </a:solidFill>
          <a:ln/>
        </p:spPr>
      </p:sp>
      <p:sp>
        <p:nvSpPr>
          <p:cNvPr id="13" name="Text 11"/>
          <p:cNvSpPr/>
          <p:nvPr/>
        </p:nvSpPr>
        <p:spPr>
          <a:xfrm>
            <a:off x="676656" y="241401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2"/>
          <p:cNvSpPr/>
          <p:nvPr/>
        </p:nvSpPr>
        <p:spPr>
          <a:xfrm>
            <a:off x="932688" y="2935224"/>
            <a:ext cx="0" cy="201168"/>
          </a:xfrm>
          <a:prstGeom prst="line">
            <a:avLst/>
          </a:prstGeom>
          <a:noFill/>
          <a:ln w="19050">
            <a:solidFill>
              <a:srgbClr val="D4DBEA"/>
            </a:solidFill>
            <a:prstDash val="solid"/>
          </a:ln>
        </p:spPr>
      </p:sp>
      <p:sp>
        <p:nvSpPr>
          <p:cNvPr id="15" name="Text 13"/>
          <p:cNvSpPr/>
          <p:nvPr/>
        </p:nvSpPr>
        <p:spPr>
          <a:xfrm>
            <a:off x="1463040" y="2414016"/>
            <a:ext cx="10149840" cy="512064"/>
          </a:xfrm>
          <a:prstGeom prst="rect">
            <a:avLst/>
          </a:prstGeom>
          <a:noFill/>
          <a:ln/>
        </p:spPr>
        <p:txBody>
          <a:bodyPr wrap="square" lIns="0" tIns="0" rIns="0" bIns="0" rtlCol="0" anchor="ctr"/>
          <a:lstStyle/>
          <a:p>
            <a:pPr indent="0" marL="0">
              <a:buNone/>
            </a:pPr>
            <a:r>
              <a:rPr lang="en-US" sz="1300" dirty="0">
                <a:solidFill>
                  <a:srgbClr val="2B3A55"/>
                </a:solidFill>
                <a:latin typeface="Calibri" pitchFamily="34" charset="0"/>
                <a:ea typeface="Calibri" pitchFamily="34" charset="-122"/>
                <a:cs typeface="Calibri" pitchFamily="34" charset="-120"/>
              </a:rPr>
              <a:t>Face-forgery CNNs + synthetic-voice models; keep the forensic fallback</a:t>
            </a:r>
            <a:endParaRPr lang="en-US" sz="1300" dirty="0"/>
          </a:p>
        </p:txBody>
      </p:sp>
      <p:sp>
        <p:nvSpPr>
          <p:cNvPr id="16" name="Shape 14"/>
          <p:cNvSpPr/>
          <p:nvPr/>
        </p:nvSpPr>
        <p:spPr>
          <a:xfrm>
            <a:off x="676656" y="3136392"/>
            <a:ext cx="512064" cy="512064"/>
          </a:xfrm>
          <a:prstGeom prst="roundRect">
            <a:avLst>
              <a:gd name="adj" fmla="val 50000"/>
            </a:avLst>
          </a:prstGeom>
          <a:solidFill>
            <a:srgbClr val="0B1F3A"/>
          </a:solidFill>
          <a:ln/>
        </p:spPr>
      </p:sp>
      <p:sp>
        <p:nvSpPr>
          <p:cNvPr id="17" name="Text 15"/>
          <p:cNvSpPr/>
          <p:nvPr/>
        </p:nvSpPr>
        <p:spPr>
          <a:xfrm>
            <a:off x="676656" y="3136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Shape 16"/>
          <p:cNvSpPr/>
          <p:nvPr/>
        </p:nvSpPr>
        <p:spPr>
          <a:xfrm>
            <a:off x="932688" y="3657600"/>
            <a:ext cx="0" cy="201168"/>
          </a:xfrm>
          <a:prstGeom prst="line">
            <a:avLst/>
          </a:prstGeom>
          <a:noFill/>
          <a:ln w="19050">
            <a:solidFill>
              <a:srgbClr val="D4DBEA"/>
            </a:solidFill>
            <a:prstDash val="solid"/>
          </a:ln>
        </p:spPr>
      </p:sp>
      <p:sp>
        <p:nvSpPr>
          <p:cNvPr id="19" name="Text 17"/>
          <p:cNvSpPr/>
          <p:nvPr/>
        </p:nvSpPr>
        <p:spPr>
          <a:xfrm>
            <a:off x="1463040" y="3136392"/>
            <a:ext cx="10149840" cy="512064"/>
          </a:xfrm>
          <a:prstGeom prst="rect">
            <a:avLst/>
          </a:prstGeom>
          <a:noFill/>
          <a:ln/>
        </p:spPr>
        <p:txBody>
          <a:bodyPr wrap="square" lIns="0" tIns="0" rIns="0" bIns="0" rtlCol="0" anchor="ctr"/>
          <a:lstStyle/>
          <a:p>
            <a:pPr indent="0" marL="0">
              <a:buNone/>
            </a:pPr>
            <a:r>
              <a:rPr lang="en-US" sz="1300" dirty="0">
                <a:solidFill>
                  <a:srgbClr val="2B3A55"/>
                </a:solidFill>
                <a:latin typeface="Calibri" pitchFamily="34" charset="0"/>
                <a:ea typeface="Calibri" pitchFamily="34" charset="-122"/>
                <a:cs typeface="Calibri" pitchFamily="34" charset="-120"/>
              </a:rPr>
              <a:t>Bundle c2pa-node for default crypto C2PA; add ffmpeg frame &amp; audio extraction</a:t>
            </a:r>
            <a:endParaRPr lang="en-US" sz="1300" dirty="0"/>
          </a:p>
        </p:txBody>
      </p:sp>
      <p:sp>
        <p:nvSpPr>
          <p:cNvPr id="20" name="Shape 18"/>
          <p:cNvSpPr/>
          <p:nvPr/>
        </p:nvSpPr>
        <p:spPr>
          <a:xfrm>
            <a:off x="676656" y="3858768"/>
            <a:ext cx="512064" cy="512064"/>
          </a:xfrm>
          <a:prstGeom prst="roundRect">
            <a:avLst>
              <a:gd name="adj" fmla="val 50000"/>
            </a:avLst>
          </a:prstGeom>
          <a:solidFill>
            <a:srgbClr val="0B1F3A"/>
          </a:solidFill>
          <a:ln/>
        </p:spPr>
      </p:sp>
      <p:sp>
        <p:nvSpPr>
          <p:cNvPr id="21" name="Text 19"/>
          <p:cNvSpPr/>
          <p:nvPr/>
        </p:nvSpPr>
        <p:spPr>
          <a:xfrm>
            <a:off x="676656" y="38587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932688" y="4379976"/>
            <a:ext cx="0" cy="201168"/>
          </a:xfrm>
          <a:prstGeom prst="line">
            <a:avLst/>
          </a:prstGeom>
          <a:noFill/>
          <a:ln w="19050">
            <a:solidFill>
              <a:srgbClr val="D4DBEA"/>
            </a:solidFill>
            <a:prstDash val="solid"/>
          </a:ln>
        </p:spPr>
      </p:sp>
      <p:sp>
        <p:nvSpPr>
          <p:cNvPr id="23" name="Text 21"/>
          <p:cNvSpPr/>
          <p:nvPr/>
        </p:nvSpPr>
        <p:spPr>
          <a:xfrm>
            <a:off x="1463040" y="3858768"/>
            <a:ext cx="10149840" cy="512064"/>
          </a:xfrm>
          <a:prstGeom prst="rect">
            <a:avLst/>
          </a:prstGeom>
          <a:noFill/>
          <a:ln/>
        </p:spPr>
        <p:txBody>
          <a:bodyPr wrap="square" lIns="0" tIns="0" rIns="0" bIns="0" rtlCol="0" anchor="ctr"/>
          <a:lstStyle/>
          <a:p>
            <a:pPr indent="0" marL="0">
              <a:buNone/>
            </a:pPr>
            <a:r>
              <a:rPr lang="en-US" sz="1300" dirty="0">
                <a:solidFill>
                  <a:srgbClr val="2B3A55"/>
                </a:solidFill>
                <a:latin typeface="Calibri" pitchFamily="34" charset="0"/>
                <a:ea typeface="Calibri" pitchFamily="34" charset="-122"/>
                <a:cs typeface="Calibri" pitchFamily="34" charset="-120"/>
              </a:rPr>
              <a:t>Model-gradient heatmaps + real per-frame / per-timestamp anomaly scores</a:t>
            </a:r>
            <a:endParaRPr lang="en-US" sz="1300" dirty="0"/>
          </a:p>
        </p:txBody>
      </p:sp>
      <p:sp>
        <p:nvSpPr>
          <p:cNvPr id="24" name="Shape 22"/>
          <p:cNvSpPr/>
          <p:nvPr/>
        </p:nvSpPr>
        <p:spPr>
          <a:xfrm>
            <a:off x="676656" y="4581144"/>
            <a:ext cx="512064" cy="512064"/>
          </a:xfrm>
          <a:prstGeom prst="roundRect">
            <a:avLst>
              <a:gd name="adj" fmla="val 50000"/>
            </a:avLst>
          </a:prstGeom>
          <a:solidFill>
            <a:srgbClr val="0B1F3A"/>
          </a:solidFill>
          <a:ln/>
        </p:spPr>
      </p:sp>
      <p:sp>
        <p:nvSpPr>
          <p:cNvPr id="25" name="Text 23"/>
          <p:cNvSpPr/>
          <p:nvPr/>
        </p:nvSpPr>
        <p:spPr>
          <a:xfrm>
            <a:off x="676656" y="458114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Shape 24"/>
          <p:cNvSpPr/>
          <p:nvPr/>
        </p:nvSpPr>
        <p:spPr>
          <a:xfrm>
            <a:off x="932688" y="5102352"/>
            <a:ext cx="0" cy="201168"/>
          </a:xfrm>
          <a:prstGeom prst="line">
            <a:avLst/>
          </a:prstGeom>
          <a:noFill/>
          <a:ln w="19050">
            <a:solidFill>
              <a:srgbClr val="D4DBEA"/>
            </a:solidFill>
            <a:prstDash val="solid"/>
          </a:ln>
        </p:spPr>
      </p:sp>
      <p:sp>
        <p:nvSpPr>
          <p:cNvPr id="27" name="Text 25"/>
          <p:cNvSpPr/>
          <p:nvPr/>
        </p:nvSpPr>
        <p:spPr>
          <a:xfrm>
            <a:off x="1463040" y="4581144"/>
            <a:ext cx="10149840" cy="512064"/>
          </a:xfrm>
          <a:prstGeom prst="rect">
            <a:avLst/>
          </a:prstGeom>
          <a:noFill/>
          <a:ln/>
        </p:spPr>
        <p:txBody>
          <a:bodyPr wrap="square" lIns="0" tIns="0" rIns="0" bIns="0" rtlCol="0" anchor="ctr"/>
          <a:lstStyle/>
          <a:p>
            <a:pPr indent="0" marL="0">
              <a:buNone/>
            </a:pPr>
            <a:r>
              <a:rPr lang="en-US" sz="1300" dirty="0">
                <a:solidFill>
                  <a:srgbClr val="2B3A55"/>
                </a:solidFill>
                <a:latin typeface="Calibri" pitchFamily="34" charset="0"/>
                <a:ea typeface="Calibri" pitchFamily="34" charset="-122"/>
                <a:cs typeface="Calibri" pitchFamily="34" charset="-120"/>
              </a:rPr>
              <a:t>Persist users &amp; API keys in Postgres — bcrypt + JWT are already live</a:t>
            </a:r>
            <a:endParaRPr lang="en-US" sz="1300" dirty="0"/>
          </a:p>
        </p:txBody>
      </p:sp>
      <p:sp>
        <p:nvSpPr>
          <p:cNvPr id="28" name="Shape 26"/>
          <p:cNvSpPr/>
          <p:nvPr/>
        </p:nvSpPr>
        <p:spPr>
          <a:xfrm>
            <a:off x="676656" y="5303520"/>
            <a:ext cx="512064" cy="512064"/>
          </a:xfrm>
          <a:prstGeom prst="roundRect">
            <a:avLst>
              <a:gd name="adj" fmla="val 50000"/>
            </a:avLst>
          </a:prstGeom>
          <a:solidFill>
            <a:srgbClr val="0B1F3A"/>
          </a:solidFill>
          <a:ln/>
        </p:spPr>
      </p:sp>
      <p:sp>
        <p:nvSpPr>
          <p:cNvPr id="29" name="Text 27"/>
          <p:cNvSpPr/>
          <p:nvPr/>
        </p:nvSpPr>
        <p:spPr>
          <a:xfrm>
            <a:off x="676656" y="530352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0" name="Text 28"/>
          <p:cNvSpPr/>
          <p:nvPr/>
        </p:nvSpPr>
        <p:spPr>
          <a:xfrm>
            <a:off x="1463040" y="5303520"/>
            <a:ext cx="10149840" cy="512064"/>
          </a:xfrm>
          <a:prstGeom prst="rect">
            <a:avLst/>
          </a:prstGeom>
          <a:noFill/>
          <a:ln/>
        </p:spPr>
        <p:txBody>
          <a:bodyPr wrap="square" lIns="0" tIns="0" rIns="0" bIns="0" rtlCol="0" anchor="ctr"/>
          <a:lstStyle/>
          <a:p>
            <a:pPr indent="0" marL="0">
              <a:buNone/>
            </a:pPr>
            <a:r>
              <a:rPr lang="en-US" sz="1300" dirty="0">
                <a:solidFill>
                  <a:srgbClr val="2B3A55"/>
                </a:solidFill>
                <a:latin typeface="Calibri" pitchFamily="34" charset="0"/>
                <a:ea typeface="Calibri" pitchFamily="34" charset="-122"/>
                <a:cs typeface="Calibri" pitchFamily="34" charset="-120"/>
              </a:rPr>
              <a:t>Feed Human Review Queue overrides into a continual retraining dataset</a:t>
            </a:r>
            <a:endParaRPr lang="en-US" sz="1300" dirty="0"/>
          </a:p>
        </p:txBody>
      </p:sp>
      <p:sp>
        <p:nvSpPr>
          <p:cNvPr id="31" name="Text 29"/>
          <p:cNvSpPr/>
          <p:nvPr/>
        </p:nvSpPr>
        <p:spPr>
          <a:xfrm>
            <a:off x="658368" y="5989320"/>
            <a:ext cx="10972800" cy="320040"/>
          </a:xfrm>
          <a:prstGeom prst="rect">
            <a:avLst/>
          </a:prstGeom>
          <a:noFill/>
          <a:ln/>
        </p:spPr>
        <p:txBody>
          <a:bodyPr wrap="square" lIns="0" tIns="0" rIns="0" bIns="0" rtlCol="0" anchor="ctr"/>
          <a:lstStyle/>
          <a:p>
            <a:pPr indent="0" marL="0">
              <a:buNone/>
            </a:pPr>
            <a:r>
              <a:rPr lang="en-US" sz="1050" i="1" dirty="0">
                <a:solidFill>
                  <a:srgbClr val="6B7A99"/>
                </a:solidFill>
                <a:latin typeface="Calibri" pitchFamily="34" charset="0"/>
                <a:ea typeface="Calibri" pitchFamily="34" charset="-122"/>
                <a:cs typeface="Calibri" pitchFamily="34" charset="-120"/>
              </a:rPr>
              <a:t>Every handoff point already exists: FastAPI running, PyTorch client built, ANALYZER=pytorch flip ready.</a:t>
            </a:r>
            <a:endParaRPr lang="en-US" sz="1050" dirty="0"/>
          </a:p>
        </p:txBody>
      </p:sp>
      <p:sp>
        <p:nvSpPr>
          <p:cNvPr id="32" name="Text 30"/>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33" name="Text 31"/>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640080" y="420624"/>
            <a:ext cx="9601200" cy="310896"/>
          </a:xfrm>
          <a:prstGeom prst="rect">
            <a:avLst/>
          </a:prstGeom>
          <a:noFill/>
          <a:ln/>
        </p:spPr>
        <p:txBody>
          <a:bodyPr wrap="square" lIns="0" tIns="0" rIns="0" bIns="0" rtlCol="0" anchor="ctr"/>
          <a:lstStyle/>
          <a:p>
            <a:pPr indent="0" marL="0">
              <a:buNone/>
            </a:pPr>
            <a:r>
              <a:rPr lang="en-US" sz="1100" b="1" spc="200" kern="0" dirty="0">
                <a:solidFill>
                  <a:srgbClr val="0E6E7E"/>
                </a:solidFill>
                <a:latin typeface="Courier New" pitchFamily="34" charset="0"/>
                <a:ea typeface="Courier New" pitchFamily="34" charset="-122"/>
                <a:cs typeface="Courier New" pitchFamily="34" charset="-120"/>
              </a:rPr>
              <a:t>11 · SCREENSHOTS &amp; LIVE DEMO</a:t>
            </a:r>
            <a:endParaRPr lang="en-US" sz="1100" dirty="0"/>
          </a:p>
        </p:txBody>
      </p:sp>
      <p:sp>
        <p:nvSpPr>
          <p:cNvPr id="3" name="Text 1"/>
          <p:cNvSpPr/>
          <p:nvPr/>
        </p:nvSpPr>
        <p:spPr>
          <a:xfrm>
            <a:off x="640080" y="731520"/>
            <a:ext cx="10424160" cy="86868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A fresh upload returns a real verdict</a:t>
            </a:r>
            <a:endParaRPr lang="en-US" sz="2800" dirty="0"/>
          </a:p>
        </p:txBody>
      </p:sp>
      <p:sp>
        <p:nvSpPr>
          <p:cNvPr id="4" name="Shape 2"/>
          <p:cNvSpPr/>
          <p:nvPr/>
        </p:nvSpPr>
        <p:spPr>
          <a:xfrm>
            <a:off x="11356848" y="438912"/>
            <a:ext cx="548640" cy="548640"/>
          </a:xfrm>
          <a:prstGeom prst="roundRect">
            <a:avLst>
              <a:gd name="adj" fmla="val 50000"/>
            </a:avLst>
          </a:prstGeom>
          <a:solidFill>
            <a:srgbClr val="FFFFFF">
              <a:alpha val="0"/>
            </a:srgbClr>
          </a:solidFill>
          <a:ln w="15875">
            <a:solidFill>
              <a:srgbClr val="D4DBEA"/>
            </a:solidFill>
            <a:prstDash val="solid"/>
          </a:ln>
        </p:spPr>
      </p:sp>
      <p:sp>
        <p:nvSpPr>
          <p:cNvPr id="5" name="Shape 3"/>
          <p:cNvSpPr/>
          <p:nvPr/>
        </p:nvSpPr>
        <p:spPr>
          <a:xfrm>
            <a:off x="11461090" y="543154"/>
            <a:ext cx="340157" cy="340157"/>
          </a:xfrm>
          <a:prstGeom prst="roundRect">
            <a:avLst>
              <a:gd name="adj" fmla="val 50000"/>
            </a:avLst>
          </a:prstGeom>
          <a:solidFill>
            <a:srgbClr val="FFFFFF">
              <a:alpha val="0"/>
            </a:srgbClr>
          </a:solidFill>
          <a:ln w="15875">
            <a:solidFill>
              <a:srgbClr val="D4DBEA"/>
            </a:solidFill>
            <a:prstDash val="solid"/>
          </a:ln>
        </p:spPr>
      </p:sp>
      <p:sp>
        <p:nvSpPr>
          <p:cNvPr id="6" name="Shape 4"/>
          <p:cNvSpPr/>
          <p:nvPr/>
        </p:nvSpPr>
        <p:spPr>
          <a:xfrm>
            <a:off x="11548872" y="630936"/>
            <a:ext cx="164592" cy="164592"/>
          </a:xfrm>
          <a:prstGeom prst="roundRect">
            <a:avLst>
              <a:gd name="adj" fmla="val 50000"/>
            </a:avLst>
          </a:prstGeom>
          <a:solidFill>
            <a:srgbClr val="FFFFFF">
              <a:alpha val="0"/>
            </a:srgbClr>
          </a:solidFill>
          <a:ln w="15875">
            <a:solidFill>
              <a:srgbClr val="D4DBEA"/>
            </a:solidFill>
            <a:prstDash val="solid"/>
          </a:ln>
        </p:spPr>
      </p:sp>
      <p:sp>
        <p:nvSpPr>
          <p:cNvPr id="7" name="Shape 5"/>
          <p:cNvSpPr/>
          <p:nvPr/>
        </p:nvSpPr>
        <p:spPr>
          <a:xfrm>
            <a:off x="11590020" y="672084"/>
            <a:ext cx="82296" cy="82296"/>
          </a:xfrm>
          <a:prstGeom prst="roundRect">
            <a:avLst>
              <a:gd name="adj" fmla="val 50000"/>
            </a:avLst>
          </a:prstGeom>
          <a:solidFill>
            <a:srgbClr val="D4DBEA"/>
          </a:solidFill>
          <a:ln/>
        </p:spPr>
      </p:sp>
      <p:sp>
        <p:nvSpPr>
          <p:cNvPr id="8" name="Shape 6"/>
          <p:cNvSpPr/>
          <p:nvPr/>
        </p:nvSpPr>
        <p:spPr>
          <a:xfrm>
            <a:off x="603504" y="1773936"/>
            <a:ext cx="3767328" cy="1875546"/>
          </a:xfrm>
          <a:prstGeom prst="roundRect">
            <a:avLst>
              <a:gd name="adj" fmla="val 1950"/>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pic>
        <p:nvPicPr>
          <p:cNvPr id="9" name="Image 0" descr="E:\Hackathons\Omnikon National Hackathon 2026\phase2\screenshots\11-forensic-results.jpg">    </p:cNvPr>
          <p:cNvPicPr>
            <a:picLocks noChangeAspect="1"/>
          </p:cNvPicPr>
          <p:nvPr/>
        </p:nvPicPr>
        <p:blipFill>
          <a:blip r:embed="rId1"/>
          <a:stretch>
            <a:fillRect/>
          </a:stretch>
        </p:blipFill>
        <p:spPr>
          <a:xfrm>
            <a:off x="658368" y="1828800"/>
            <a:ext cx="3657600" cy="1765818"/>
          </a:xfrm>
          <a:prstGeom prst="rect">
            <a:avLst/>
          </a:prstGeom>
        </p:spPr>
      </p:pic>
      <p:sp>
        <p:nvSpPr>
          <p:cNvPr id="10" name="Text 7"/>
          <p:cNvSpPr/>
          <p:nvPr/>
        </p:nvSpPr>
        <p:spPr>
          <a:xfrm>
            <a:off x="658368" y="3667770"/>
            <a:ext cx="3657600" cy="274320"/>
          </a:xfrm>
          <a:prstGeom prst="rect">
            <a:avLst/>
          </a:prstGeom>
          <a:noFill/>
          <a:ln/>
        </p:spPr>
        <p:txBody>
          <a:bodyPr wrap="square" lIns="0" tIns="0" rIns="0" bIns="0" rtlCol="0" anchor="ctr"/>
          <a:lstStyle/>
          <a:p>
            <a:pPr algn="ctr" indent="0" marL="0">
              <a:buNone/>
            </a:pPr>
            <a:r>
              <a:rPr lang="en-US" sz="850" dirty="0">
                <a:solidFill>
                  <a:srgbClr val="6B7A99"/>
                </a:solidFill>
                <a:latin typeface="Courier New" pitchFamily="34" charset="0"/>
                <a:ea typeface="Courier New" pitchFamily="34" charset="-122"/>
                <a:cs typeface="Courier New" pitchFamily="34" charset="-120"/>
              </a:rPr>
              <a:t>Results — real forensic verdict + breakdown</a:t>
            </a:r>
            <a:endParaRPr lang="en-US" sz="850" dirty="0"/>
          </a:p>
        </p:txBody>
      </p:sp>
      <p:sp>
        <p:nvSpPr>
          <p:cNvPr id="11" name="Shape 8"/>
          <p:cNvSpPr/>
          <p:nvPr/>
        </p:nvSpPr>
        <p:spPr>
          <a:xfrm>
            <a:off x="4361688" y="1773936"/>
            <a:ext cx="3767328" cy="1875546"/>
          </a:xfrm>
          <a:prstGeom prst="roundRect">
            <a:avLst>
              <a:gd name="adj" fmla="val 1950"/>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pic>
        <p:nvPicPr>
          <p:cNvPr id="12" name="Image 1" descr="E:\Hackathons\Omnikon National Hackathon 2026\phase2\screenshots\12-forensic-ela-heatmap.jpg">    </p:cNvPr>
          <p:cNvPicPr>
            <a:picLocks noChangeAspect="1"/>
          </p:cNvPicPr>
          <p:nvPr/>
        </p:nvPicPr>
        <p:blipFill>
          <a:blip r:embed="rId2"/>
          <a:stretch>
            <a:fillRect/>
          </a:stretch>
        </p:blipFill>
        <p:spPr>
          <a:xfrm>
            <a:off x="4416552" y="1828800"/>
            <a:ext cx="3657600" cy="1765818"/>
          </a:xfrm>
          <a:prstGeom prst="rect">
            <a:avLst/>
          </a:prstGeom>
        </p:spPr>
      </p:pic>
      <p:sp>
        <p:nvSpPr>
          <p:cNvPr id="13" name="Text 9"/>
          <p:cNvSpPr/>
          <p:nvPr/>
        </p:nvSpPr>
        <p:spPr>
          <a:xfrm>
            <a:off x="4416552" y="3667770"/>
            <a:ext cx="3657600" cy="274320"/>
          </a:xfrm>
          <a:prstGeom prst="rect">
            <a:avLst/>
          </a:prstGeom>
          <a:noFill/>
          <a:ln/>
        </p:spPr>
        <p:txBody>
          <a:bodyPr wrap="square" lIns="0" tIns="0" rIns="0" bIns="0" rtlCol="0" anchor="ctr"/>
          <a:lstStyle/>
          <a:p>
            <a:pPr algn="ctr" indent="0" marL="0">
              <a:buNone/>
            </a:pPr>
            <a:r>
              <a:rPr lang="en-US" sz="850" dirty="0">
                <a:solidFill>
                  <a:srgbClr val="6B7A99"/>
                </a:solidFill>
                <a:latin typeface="Courier New" pitchFamily="34" charset="0"/>
                <a:ea typeface="Courier New" pitchFamily="34" charset="-122"/>
                <a:cs typeface="Courier New" pitchFamily="34" charset="-120"/>
              </a:rPr>
              <a:t>Evidence — real 8×8 ELA heatmap</a:t>
            </a:r>
            <a:endParaRPr lang="en-US" sz="850" dirty="0"/>
          </a:p>
        </p:txBody>
      </p:sp>
      <p:sp>
        <p:nvSpPr>
          <p:cNvPr id="14" name="Shape 10"/>
          <p:cNvSpPr/>
          <p:nvPr/>
        </p:nvSpPr>
        <p:spPr>
          <a:xfrm>
            <a:off x="8119872" y="1773936"/>
            <a:ext cx="3767328" cy="1875546"/>
          </a:xfrm>
          <a:prstGeom prst="roundRect">
            <a:avLst>
              <a:gd name="adj" fmla="val 1950"/>
            </a:avLst>
          </a:prstGeom>
          <a:solidFill>
            <a:srgbClr val="FFFFFF"/>
          </a:solidFill>
          <a:ln w="12700">
            <a:solidFill>
              <a:srgbClr val="D4DBEA"/>
            </a:solidFill>
            <a:prstDash val="solid"/>
          </a:ln>
          <a:effectLst>
            <a:outerShdw sx="100000" sy="100000" kx="0" ky="0" algn="bl" rotWithShape="0" blurRad="114300" dist="38100" dir="5400000">
              <a:srgbClr val="8DA0C0">
                <a:alpha val="45000"/>
              </a:srgbClr>
            </a:outerShdw>
          </a:effectLst>
        </p:spPr>
      </p:sp>
      <p:pic>
        <p:nvPicPr>
          <p:cNvPr id="15" name="Image 2" descr="E:\Hackathons\Omnikon National Hackathon 2026\phase2\screenshots\08-report.jpg">    </p:cNvPr>
          <p:cNvPicPr>
            <a:picLocks noChangeAspect="1"/>
          </p:cNvPicPr>
          <p:nvPr/>
        </p:nvPicPr>
        <p:blipFill>
          <a:blip r:embed="rId3"/>
          <a:stretch>
            <a:fillRect/>
          </a:stretch>
        </p:blipFill>
        <p:spPr>
          <a:xfrm>
            <a:off x="8174736" y="1828800"/>
            <a:ext cx="3657600" cy="1765818"/>
          </a:xfrm>
          <a:prstGeom prst="rect">
            <a:avLst/>
          </a:prstGeom>
        </p:spPr>
      </p:pic>
      <p:sp>
        <p:nvSpPr>
          <p:cNvPr id="16" name="Text 11"/>
          <p:cNvSpPr/>
          <p:nvPr/>
        </p:nvSpPr>
        <p:spPr>
          <a:xfrm>
            <a:off x="8174736" y="3667770"/>
            <a:ext cx="3657600" cy="274320"/>
          </a:xfrm>
          <a:prstGeom prst="rect">
            <a:avLst/>
          </a:prstGeom>
          <a:noFill/>
          <a:ln/>
        </p:spPr>
        <p:txBody>
          <a:bodyPr wrap="square" lIns="0" tIns="0" rIns="0" bIns="0" rtlCol="0" anchor="ctr"/>
          <a:lstStyle/>
          <a:p>
            <a:pPr algn="ctr" indent="0" marL="0">
              <a:buNone/>
            </a:pPr>
            <a:r>
              <a:rPr lang="en-US" sz="850" dirty="0">
                <a:solidFill>
                  <a:srgbClr val="6B7A99"/>
                </a:solidFill>
                <a:latin typeface="Courier New" pitchFamily="34" charset="0"/>
                <a:ea typeface="Courier New" pitchFamily="34" charset="-122"/>
                <a:cs typeface="Courier New" pitchFamily="34" charset="-120"/>
              </a:rPr>
              <a:t>Report — export JSON / print PDF</a:t>
            </a:r>
            <a:endParaRPr lang="en-US" sz="850" dirty="0"/>
          </a:p>
        </p:txBody>
      </p:sp>
      <p:sp>
        <p:nvSpPr>
          <p:cNvPr id="17" name="Text 12"/>
          <p:cNvSpPr/>
          <p:nvPr/>
        </p:nvSpPr>
        <p:spPr>
          <a:xfrm>
            <a:off x="658368" y="4114800"/>
            <a:ext cx="11064240" cy="21945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Demo runs on the local Express API — ANALYZER=forensic, in-memory store, no GPU</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Landing → Analyze → 7-stage processing → Results verdict banner</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A fresh file upload returns a real score from ELA, noise stats, EXIF, C2PA probe</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Provenance panel is driven by a real C2PA probe + EXIF on the uploaded file</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Review queue + Reports: verdict override, export JSON, print PDF</a:t>
            </a:r>
            <a:endParaRPr lang="en-US" sz="1200" dirty="0"/>
          </a:p>
          <a:p>
            <a:pPr marL="152400" indent="-152400">
              <a:lnSpc>
                <a:spcPct val="105000"/>
              </a:lnSpc>
              <a:spcAft>
                <a:spcPts val="1000"/>
              </a:spcAft>
              <a:buSzPct val="100000"/>
              <a:buChar char="•"/>
            </a:pPr>
            <a:r>
              <a:rPr lang="en-US" sz="1200" dirty="0">
                <a:solidFill>
                  <a:srgbClr val="2B3A55"/>
                </a:solidFill>
                <a:latin typeface="Calibri" pitchFamily="34" charset="0"/>
                <a:ea typeface="Calibri" pitchFamily="34" charset="-122"/>
                <a:cs typeface="Calibri" pitchFamily="34" charset="-120"/>
              </a:rPr>
              <a:t>The three 1-click samples + dashboard KPIs are fixtures — flagged on screen</a:t>
            </a:r>
            <a:endParaRPr lang="en-US" sz="1200" dirty="0"/>
          </a:p>
        </p:txBody>
      </p:sp>
      <p:sp>
        <p:nvSpPr>
          <p:cNvPr id="18" name="Text 13"/>
          <p:cNvSpPr/>
          <p:nvPr/>
        </p:nvSpPr>
        <p:spPr>
          <a:xfrm>
            <a:off x="640080" y="6428232"/>
            <a:ext cx="7315200" cy="274320"/>
          </a:xfrm>
          <a:prstGeom prst="rect">
            <a:avLst/>
          </a:prstGeom>
          <a:noFill/>
          <a:ln/>
        </p:spPr>
        <p:txBody>
          <a:bodyPr wrap="square" lIns="0" tIns="0" rIns="0" bIns="0" rtlCol="0" anchor="ctr"/>
          <a:lstStyle/>
          <a:p>
            <a:pPr indent="0" marL="0">
              <a:buNone/>
            </a:pPr>
            <a:r>
              <a:rPr lang="en-US" sz="800" dirty="0">
                <a:solidFill>
                  <a:srgbClr val="6B7A99"/>
                </a:solidFill>
                <a:latin typeface="Courier New" pitchFamily="34" charset="0"/>
                <a:ea typeface="Courier New" pitchFamily="34" charset="-122"/>
                <a:cs typeface="Courier New" pitchFamily="34" charset="-120"/>
              </a:rPr>
              <a:t>VERIFRAME  ·  Phase 2 Progress  ·  Team codeX</a:t>
            </a:r>
            <a:endParaRPr lang="en-US" sz="800" dirty="0"/>
          </a:p>
        </p:txBody>
      </p:sp>
      <p:sp>
        <p:nvSpPr>
          <p:cNvPr id="19" name="Text 14"/>
          <p:cNvSpPr/>
          <p:nvPr/>
        </p:nvSpPr>
        <p:spPr>
          <a:xfrm>
            <a:off x="10881360" y="6428232"/>
            <a:ext cx="685800" cy="274320"/>
          </a:xfrm>
          <a:prstGeom prst="rect">
            <a:avLst/>
          </a:prstGeom>
          <a:noFill/>
          <a:ln/>
        </p:spPr>
        <p:txBody>
          <a:bodyPr wrap="square" lIns="0" tIns="0" rIns="0" bIns="0" rtlCol="0" anchor="ctr"/>
          <a:lstStyle/>
          <a:p>
            <a:pPr algn="r" indent="0" marL="0">
              <a:buNone/>
            </a:pPr>
            <a:r>
              <a:rPr lang="en-US" sz="800" dirty="0">
                <a:solidFill>
                  <a:srgbClr val="6B7A99"/>
                </a:solidFill>
                <a:latin typeface="Courier New" pitchFamily="34" charset="0"/>
                <a:ea typeface="Courier New" pitchFamily="34" charset="-122"/>
                <a:cs typeface="Courier New" pitchFamily="34" charset="-120"/>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8046720" y="2011680"/>
            <a:ext cx="3474720" cy="3474720"/>
          </a:xfrm>
          <a:prstGeom prst="roundRect">
            <a:avLst>
              <a:gd name="adj" fmla="val 50000"/>
            </a:avLst>
          </a:prstGeom>
          <a:solidFill>
            <a:srgbClr val="FFFFFF">
              <a:alpha val="0"/>
            </a:srgbClr>
          </a:solidFill>
          <a:ln w="15875">
            <a:solidFill>
              <a:srgbClr val="20344F"/>
            </a:solidFill>
            <a:prstDash val="solid"/>
          </a:ln>
        </p:spPr>
      </p:sp>
      <p:sp>
        <p:nvSpPr>
          <p:cNvPr id="3" name="Shape 1"/>
          <p:cNvSpPr/>
          <p:nvPr/>
        </p:nvSpPr>
        <p:spPr>
          <a:xfrm>
            <a:off x="8641080" y="2606040"/>
            <a:ext cx="2286000" cy="2286000"/>
          </a:xfrm>
          <a:prstGeom prst="roundRect">
            <a:avLst>
              <a:gd name="adj" fmla="val 50000"/>
            </a:avLst>
          </a:prstGeom>
          <a:solidFill>
            <a:srgbClr val="FFFFFF">
              <a:alpha val="0"/>
            </a:srgbClr>
          </a:solidFill>
          <a:ln w="15875">
            <a:solidFill>
              <a:srgbClr val="20344F"/>
            </a:solidFill>
            <a:prstDash val="solid"/>
          </a:ln>
        </p:spPr>
      </p:sp>
      <p:sp>
        <p:nvSpPr>
          <p:cNvPr id="4" name="Shape 2"/>
          <p:cNvSpPr/>
          <p:nvPr/>
        </p:nvSpPr>
        <p:spPr>
          <a:xfrm>
            <a:off x="9189720" y="3154680"/>
            <a:ext cx="1188720" cy="1188720"/>
          </a:xfrm>
          <a:prstGeom prst="roundRect">
            <a:avLst>
              <a:gd name="adj" fmla="val 50000"/>
            </a:avLst>
          </a:prstGeom>
          <a:solidFill>
            <a:srgbClr val="FFFFFF">
              <a:alpha val="0"/>
            </a:srgbClr>
          </a:solidFill>
          <a:ln w="25400">
            <a:solidFill>
              <a:srgbClr val="12B5CB"/>
            </a:solidFill>
            <a:prstDash val="dash"/>
          </a:ln>
        </p:spPr>
      </p:sp>
      <p:sp>
        <p:nvSpPr>
          <p:cNvPr id="5" name="Text 3"/>
          <p:cNvSpPr/>
          <p:nvPr/>
        </p:nvSpPr>
        <p:spPr>
          <a:xfrm>
            <a:off x="9098280" y="3246120"/>
            <a:ext cx="1371600" cy="1005840"/>
          </a:xfrm>
          <a:prstGeom prst="rect">
            <a:avLst/>
          </a:prstGeom>
          <a:noFill/>
          <a:ln/>
        </p:spPr>
        <p:txBody>
          <a:bodyPr wrap="square" lIns="0" tIns="0" rIns="0" bIns="0" rtlCol="0" anchor="ctr"/>
          <a:lstStyle/>
          <a:p>
            <a:pPr algn="ctr" indent="0" marL="0">
              <a:lnSpc>
                <a:spcPct val="115000"/>
              </a:lnSpc>
              <a:buNone/>
            </a:pPr>
            <a:r>
              <a:rPr lang="en-US" sz="850" b="1" dirty="0">
                <a:solidFill>
                  <a:srgbClr val="12B5CB"/>
                </a:solidFill>
                <a:latin typeface="Courier New" pitchFamily="34" charset="0"/>
                <a:ea typeface="Courier New" pitchFamily="34" charset="-122"/>
                <a:cs typeface="Courier New" pitchFamily="34" charset="-120"/>
              </a:rPr>
              <a:t>TRAINED</a:t>
            </a:r>
            <a:endParaRPr lang="en-US" sz="850" dirty="0"/>
          </a:p>
          <a:p>
            <a:pPr algn="ctr" indent="0" marL="0">
              <a:lnSpc>
                <a:spcPct val="115000"/>
              </a:lnSpc>
              <a:buNone/>
            </a:pPr>
            <a:r>
              <a:rPr lang="en-US" sz="850" b="1" dirty="0">
                <a:solidFill>
                  <a:srgbClr val="12B5CB"/>
                </a:solidFill>
                <a:latin typeface="Courier New" pitchFamily="34" charset="0"/>
                <a:ea typeface="Courier New" pitchFamily="34" charset="-122"/>
                <a:cs typeface="Courier New" pitchFamily="34" charset="-120"/>
              </a:rPr>
              <a:t>WEIGHTS</a:t>
            </a:r>
            <a:endParaRPr lang="en-US" sz="850" dirty="0"/>
          </a:p>
          <a:p>
            <a:pPr algn="ctr" indent="0" marL="0">
              <a:lnSpc>
                <a:spcPct val="115000"/>
              </a:lnSpc>
              <a:buNone/>
            </a:pPr>
            <a:r>
              <a:rPr lang="en-US" sz="850" b="1" dirty="0">
                <a:solidFill>
                  <a:srgbClr val="12B5CB"/>
                </a:solidFill>
                <a:latin typeface="Courier New" pitchFamily="34" charset="0"/>
                <a:ea typeface="Courier New" pitchFamily="34" charset="-122"/>
                <a:cs typeface="Courier New" pitchFamily="34" charset="-120"/>
              </a:rPr>
              <a:t>DROP IN</a:t>
            </a:r>
            <a:endParaRPr lang="en-US" sz="850" dirty="0"/>
          </a:p>
          <a:p>
            <a:pPr algn="ctr" indent="0" marL="0">
              <a:lnSpc>
                <a:spcPct val="115000"/>
              </a:lnSpc>
              <a:buNone/>
            </a:pPr>
            <a:r>
              <a:rPr lang="en-US" sz="850" b="1" dirty="0">
                <a:solidFill>
                  <a:srgbClr val="12B5CB"/>
                </a:solidFill>
                <a:latin typeface="Courier New" pitchFamily="34" charset="0"/>
                <a:ea typeface="Courier New" pitchFamily="34" charset="-122"/>
                <a:cs typeface="Courier New" pitchFamily="34" charset="-120"/>
              </a:rPr>
              <a:t>HERE</a:t>
            </a:r>
            <a:endParaRPr lang="en-US" sz="850" dirty="0"/>
          </a:p>
        </p:txBody>
      </p:sp>
      <p:sp>
        <p:nvSpPr>
          <p:cNvPr id="6" name="Text 4"/>
          <p:cNvSpPr/>
          <p:nvPr/>
        </p:nvSpPr>
        <p:spPr>
          <a:xfrm>
            <a:off x="822960" y="868680"/>
            <a:ext cx="10058400" cy="365760"/>
          </a:xfrm>
          <a:prstGeom prst="rect">
            <a:avLst/>
          </a:prstGeom>
          <a:noFill/>
          <a:ln/>
        </p:spPr>
        <p:txBody>
          <a:bodyPr wrap="square" lIns="0" tIns="0" rIns="0" bIns="0" rtlCol="0" anchor="ctr"/>
          <a:lstStyle/>
          <a:p>
            <a:pPr indent="0" marL="0">
              <a:buNone/>
            </a:pPr>
            <a:r>
              <a:rPr lang="en-US" sz="1200" b="1" spc="300" kern="0" dirty="0">
                <a:solidFill>
                  <a:srgbClr val="12B5CB"/>
                </a:solidFill>
                <a:latin typeface="Courier New" pitchFamily="34" charset="0"/>
                <a:ea typeface="Courier New" pitchFamily="34" charset="-122"/>
                <a:cs typeface="Courier New" pitchFamily="34" charset="-120"/>
              </a:rPr>
              <a:t>WHERE VERIFRAME STANDS</a:t>
            </a:r>
            <a:endParaRPr lang="en-US" sz="1200" dirty="0"/>
          </a:p>
        </p:txBody>
      </p:sp>
      <p:sp>
        <p:nvSpPr>
          <p:cNvPr id="7" name="Text 5"/>
          <p:cNvSpPr/>
          <p:nvPr/>
        </p:nvSpPr>
        <p:spPr>
          <a:xfrm>
            <a:off x="777240" y="1508760"/>
            <a:ext cx="7863840" cy="1554480"/>
          </a:xfrm>
          <a:prstGeom prst="rect">
            <a:avLst/>
          </a:prstGeom>
          <a:noFill/>
          <a:ln/>
        </p:spPr>
        <p:txBody>
          <a:bodyPr wrap="square" lIns="0" tIns="0" rIns="0" bIns="0" rtlCol="0" anchor="ctr"/>
          <a:lstStyle/>
          <a:p>
            <a:pPr indent="0" marL="0">
              <a:lnSpc>
                <a:spcPct val="105000"/>
              </a:lnSpc>
              <a:buNone/>
            </a:pPr>
            <a:r>
              <a:rPr lang="en-US" sz="3100" b="1" dirty="0">
                <a:solidFill>
                  <a:srgbClr val="FFFFFF"/>
                </a:solidFill>
                <a:latin typeface="Calibri" pitchFamily="34" charset="0"/>
                <a:ea typeface="Calibri" pitchFamily="34" charset="-122"/>
                <a:cs typeface="Calibri" pitchFamily="34" charset="-120"/>
              </a:rPr>
              <a:t>The platform, the forensic engine and the model seam all work today.</a:t>
            </a:r>
            <a:endParaRPr lang="en-US" sz="3100" dirty="0"/>
          </a:p>
        </p:txBody>
      </p:sp>
      <p:sp>
        <p:nvSpPr>
          <p:cNvPr id="8" name="Text 6"/>
          <p:cNvSpPr/>
          <p:nvPr/>
        </p:nvSpPr>
        <p:spPr>
          <a:xfrm>
            <a:off x="822960" y="3200400"/>
            <a:ext cx="7680960" cy="2743200"/>
          </a:xfrm>
          <a:prstGeom prst="rect">
            <a:avLst/>
          </a:prstGeom>
          <a:noFill/>
          <a:ln/>
        </p:spPr>
        <p:txBody>
          <a:bodyPr wrap="square" lIns="0" tIns="0" rIns="0" bIns="0" rtlCol="0" anchor="ctr"/>
          <a:lstStyle/>
          <a:p>
            <a:pPr marL="152400" indent="-152400">
              <a:lnSpc>
                <a:spcPct val="108000"/>
              </a:lnSpc>
              <a:spcAft>
                <a:spcPts val="1000"/>
              </a:spcAft>
              <a:buSzPct val="100000"/>
              <a:buChar char="•"/>
            </a:pPr>
            <a:r>
              <a:rPr lang="en-US" sz="1300" dirty="0">
                <a:solidFill>
                  <a:srgbClr val="C9D6E8"/>
                </a:solidFill>
                <a:latin typeface="Calibri" pitchFamily="34" charset="0"/>
                <a:ea typeface="Calibri" pitchFamily="34" charset="-122"/>
                <a:cs typeface="Calibri" pitchFamily="34" charset="-120"/>
              </a:rPr>
              <a:t>Default analyzer is real forensic signal — ELA, noise, EXIF, C2PA — no ML.</a:t>
            </a:r>
            <a:endParaRPr lang="en-US" sz="1300" dirty="0"/>
          </a:p>
          <a:p>
            <a:pPr marL="152400" indent="-152400">
              <a:lnSpc>
                <a:spcPct val="108000"/>
              </a:lnSpc>
              <a:spcAft>
                <a:spcPts val="1000"/>
              </a:spcAft>
              <a:buSzPct val="100000"/>
              <a:buChar char="•"/>
            </a:pPr>
            <a:r>
              <a:rPr lang="en-US" sz="1300" dirty="0">
                <a:solidFill>
                  <a:srgbClr val="C9D6E8"/>
                </a:solidFill>
                <a:latin typeface="Calibri" pitchFamily="34" charset="0"/>
                <a:ea typeface="Calibri" pitchFamily="34" charset="-122"/>
                <a:cs typeface="Calibri" pitchFamily="34" charset="-120"/>
              </a:rPr>
              <a:t>Trained model is the last drop-in; nothing above the seam changes.</a:t>
            </a:r>
            <a:endParaRPr lang="en-US" sz="1300" dirty="0"/>
          </a:p>
          <a:p>
            <a:pPr marL="152400" indent="-152400">
              <a:lnSpc>
                <a:spcPct val="108000"/>
              </a:lnSpc>
              <a:spcAft>
                <a:spcPts val="1000"/>
              </a:spcAft>
              <a:buSzPct val="100000"/>
              <a:buChar char="•"/>
            </a:pPr>
            <a:r>
              <a:rPr lang="en-US" sz="1300" dirty="0">
                <a:solidFill>
                  <a:srgbClr val="C9D6E8"/>
                </a:solidFill>
                <a:latin typeface="Calibri" pitchFamily="34" charset="0"/>
                <a:ea typeface="Calibri" pitchFamily="34" charset="-122"/>
                <a:cs typeface="Calibri" pitchFamily="34" charset="-120"/>
              </a:rPr>
              <a:t>Handoff is live-wired: FastAPI running, PyTorch client built, env flip ready.</a:t>
            </a:r>
            <a:endParaRPr lang="en-US" sz="1300" dirty="0"/>
          </a:p>
          <a:p>
            <a:pPr marL="152400" indent="-152400">
              <a:lnSpc>
                <a:spcPct val="108000"/>
              </a:lnSpc>
              <a:spcAft>
                <a:spcPts val="1000"/>
              </a:spcAft>
              <a:buSzPct val="100000"/>
              <a:buChar char="•"/>
            </a:pPr>
            <a:r>
              <a:rPr lang="en-US" sz="1300" dirty="0">
                <a:solidFill>
                  <a:srgbClr val="C9D6E8"/>
                </a:solidFill>
                <a:latin typeface="Calibri" pitchFamily="34" charset="0"/>
                <a:ea typeface="Calibri" pitchFamily="34" charset="-122"/>
                <a:cs typeface="Calibri" pitchFamily="34" charset="-120"/>
              </a:rPr>
              <a:t>Hardened: JWT/bcrypt auth, rate limiting, data layer, Docker, CI, 20 tests.</a:t>
            </a:r>
            <a:endParaRPr lang="en-US" sz="1300" dirty="0"/>
          </a:p>
          <a:p>
            <a:pPr marL="152400" indent="-152400">
              <a:lnSpc>
                <a:spcPct val="108000"/>
              </a:lnSpc>
              <a:buSzPct val="100000"/>
              <a:buChar char="•"/>
            </a:pPr>
            <a:r>
              <a:rPr lang="en-US" sz="1300" dirty="0">
                <a:solidFill>
                  <a:srgbClr val="C9D6E8"/>
                </a:solidFill>
                <a:latin typeface="Calibri" pitchFamily="34" charset="0"/>
                <a:ea typeface="Calibri" pitchFamily="34" charset="-122"/>
                <a:cs typeface="Calibri" pitchFamily="34" charset="-120"/>
              </a:rPr>
              <a:t>No accuracy figures claimed — benchmarking on FF++ / DFDC / Celeb-DF is Phase 3.</a:t>
            </a:r>
            <a:endParaRPr lang="en-US" sz="1300" dirty="0"/>
          </a:p>
        </p:txBody>
      </p:sp>
      <p:sp>
        <p:nvSpPr>
          <p:cNvPr id="9" name="Text 7"/>
          <p:cNvSpPr/>
          <p:nvPr/>
        </p:nvSpPr>
        <p:spPr>
          <a:xfrm>
            <a:off x="822960" y="6172200"/>
            <a:ext cx="10515600" cy="365760"/>
          </a:xfrm>
          <a:prstGeom prst="rect">
            <a:avLst/>
          </a:prstGeom>
          <a:noFill/>
          <a:ln/>
        </p:spPr>
        <p:txBody>
          <a:bodyPr wrap="square" lIns="0" tIns="0" rIns="0" bIns="0" rtlCol="0" anchor="ctr"/>
          <a:lstStyle/>
          <a:p>
            <a:pPr indent="0" marL="0">
              <a:buNone/>
            </a:pPr>
            <a:r>
              <a:rPr lang="en-US" sz="900" dirty="0">
                <a:solidFill>
                  <a:srgbClr val="6B7A99"/>
                </a:solidFill>
                <a:latin typeface="Courier New" pitchFamily="34" charset="0"/>
                <a:ea typeface="Courier New" pitchFamily="34" charset="-122"/>
                <a:cs typeface="Courier New" pitchFamily="34" charset="-120"/>
              </a:rPr>
              <a:t>VERIFRAME  ·  Team codeX  ·  Omnikon National Hackathon 2026  ·  Omni_CyberTech_4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2026-08-27T17:16:39Z</dcterms:created>
  <dcterms:modified xsi:type="dcterms:W3CDTF">2026-08-27T17:16:39Z</dcterms:modified>
</cp:coreProperties>
</file>